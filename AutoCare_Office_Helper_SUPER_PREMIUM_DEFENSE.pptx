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06B6D4"/>
          </a:solidFill>
          <a:ln w="12700">
            <a:solidFill>
              <a:srgbClr val="06B6D4"/>
            </a:solidFill>
            <a:prstDash val="solid"/>
          </a:ln>
        </p:spPr>
      </p:sp>
      <p:sp>
        <p:nvSpPr>
          <p:cNvPr id="3" name="Shape 1"/>
          <p:cNvSpPr/>
          <p:nvPr/>
        </p:nvSpPr>
        <p:spPr>
          <a:xfrm>
            <a:off x="3803904" y="685800"/>
            <a:ext cx="4572000" cy="365760"/>
          </a:xfrm>
          <a:prstGeom prst="roundRect">
            <a:avLst/>
          </a:prstGeom>
          <a:solidFill>
            <a:srgbClr val="172554"/>
          </a:solidFill>
          <a:ln w="19050">
            <a:solidFill>
              <a:srgbClr val="06B6D4"/>
            </a:solidFill>
            <a:prstDash val="solid"/>
          </a:ln>
        </p:spPr>
      </p:sp>
      <p:sp>
        <p:nvSpPr>
          <p:cNvPr id="4" name="Text 2"/>
          <p:cNvSpPr/>
          <p:nvPr/>
        </p:nvSpPr>
        <p:spPr>
          <a:xfrm>
            <a:off x="3803904" y="685800"/>
            <a:ext cx="4572000" cy="365760"/>
          </a:xfrm>
          <a:prstGeom prst="rect">
            <a:avLst/>
          </a:prstGeom>
          <a:noFill/>
          <a:ln/>
        </p:spPr>
        <p:txBody>
          <a:bodyPr wrap="square" rtlCol="0" anchor="ctr"/>
          <a:lstStyle/>
          <a:p>
            <a:pPr algn="ctr" indent="0" marL="0">
              <a:buNone/>
            </a:pPr>
            <a:r>
              <a:rPr lang="en-US" sz="1100" b="1" dirty="0">
                <a:solidFill>
                  <a:srgbClr val="38BDF8"/>
                </a:solidFill>
                <a:latin typeface="Segoe UI" pitchFamily="34" charset="0"/>
                <a:ea typeface="Segoe UI" pitchFamily="34" charset="-122"/>
                <a:cs typeface="Segoe UI" pitchFamily="34" charset="-120"/>
              </a:rPr>
              <a:t>✦ BÁO CÁO BẢO VỆ ĐỒ ÁN TỐT NGHIỆP ĐẠI HỌC ✦</a:t>
            </a:r>
            <a:endParaRPr lang="en-US" sz="1100" dirty="0"/>
          </a:p>
        </p:txBody>
      </p:sp>
      <p:sp>
        <p:nvSpPr>
          <p:cNvPr id="5" name="Text 3"/>
          <p:cNvSpPr/>
          <p:nvPr/>
        </p:nvSpPr>
        <p:spPr>
          <a:xfrm>
            <a:off x="457200" y="1234440"/>
            <a:ext cx="11274552" cy="822960"/>
          </a:xfrm>
          <a:prstGeom prst="rect">
            <a:avLst/>
          </a:prstGeom>
          <a:noFill/>
          <a:ln/>
        </p:spPr>
        <p:txBody>
          <a:bodyPr wrap="square" rtlCol="0" anchor="ctr"/>
          <a:lstStyle/>
          <a:p>
            <a:pPr algn="ctr" indent="0" marL="0">
              <a:buNone/>
            </a:pPr>
            <a:r>
              <a:rPr lang="en-US" sz="3400" b="1" dirty="0">
                <a:solidFill>
                  <a:srgbClr val="FFFFFF"/>
                </a:solidFill>
                <a:latin typeface="Segoe UI" pitchFamily="34" charset="0"/>
                <a:ea typeface="Segoe UI" pitchFamily="34" charset="-122"/>
                <a:cs typeface="Segoe UI" pitchFamily="34" charset="-120"/>
              </a:rPr>
              <a:t>AUTOCARE OFFICE HELPER</a:t>
            </a:r>
            <a:endParaRPr lang="en-US" sz="3400" dirty="0"/>
          </a:p>
        </p:txBody>
      </p:sp>
      <p:sp>
        <p:nvSpPr>
          <p:cNvPr id="6" name="Shape 4"/>
          <p:cNvSpPr/>
          <p:nvPr/>
        </p:nvSpPr>
        <p:spPr>
          <a:xfrm>
            <a:off x="1371600" y="2148840"/>
            <a:ext cx="9445752" cy="594360"/>
          </a:xfrm>
          <a:prstGeom prst="roundRect">
            <a:avLst/>
          </a:prstGeom>
          <a:solidFill>
            <a:srgbClr val="121B2B"/>
          </a:solidFill>
          <a:ln w="19050">
            <a:solidFill>
              <a:srgbClr val="38BDF8"/>
            </a:solidFill>
            <a:prstDash val="solid"/>
          </a:ln>
        </p:spPr>
      </p:sp>
      <p:sp>
        <p:nvSpPr>
          <p:cNvPr id="7" name="Text 5"/>
          <p:cNvSpPr/>
          <p:nvPr/>
        </p:nvSpPr>
        <p:spPr>
          <a:xfrm>
            <a:off x="1463040" y="2148840"/>
            <a:ext cx="9262872" cy="594360"/>
          </a:xfrm>
          <a:prstGeom prst="rect">
            <a:avLst/>
          </a:prstGeom>
          <a:noFill/>
          <a:ln/>
        </p:spPr>
        <p:txBody>
          <a:bodyPr wrap="square" rtlCol="0" anchor="ctr"/>
          <a:lstStyle/>
          <a:p>
            <a:pPr algn="ctr" indent="0" marL="0">
              <a:buNone/>
            </a:pPr>
            <a:r>
              <a:rPr lang="en-US" sz="1400" b="1" dirty="0">
                <a:solidFill>
                  <a:srgbClr val="FBBF24"/>
                </a:solidFill>
                <a:latin typeface="Segoe UI" pitchFamily="34" charset="0"/>
                <a:ea typeface="Segoe UI" pitchFamily="34" charset="-122"/>
                <a:cs typeface="Segoe UI" pitchFamily="34" charset="-120"/>
              </a:rPr>
              <a:t>HỆ THỐNG SỐ HÓA &amp; QUẢN LÝ LỊCH ĐĂNG KIỂM, BẢO DƯỠNG, BẢO HIỂM PHƯƠNG TIỆN</a:t>
            </a:r>
            <a:endParaRPr lang="en-US" sz="1400" dirty="0"/>
          </a:p>
        </p:txBody>
      </p:sp>
      <p:sp>
        <p:nvSpPr>
          <p:cNvPr id="8" name="Shape 6"/>
          <p:cNvSpPr/>
          <p:nvPr/>
        </p:nvSpPr>
        <p:spPr>
          <a:xfrm>
            <a:off x="914400" y="2971800"/>
            <a:ext cx="3227832" cy="868680"/>
          </a:xfrm>
          <a:prstGeom prst="roundRect">
            <a:avLst/>
          </a:prstGeom>
          <a:solidFill>
            <a:srgbClr val="182438"/>
          </a:solidFill>
          <a:ln w="19050">
            <a:solidFill>
              <a:srgbClr val="0284C7"/>
            </a:solidFill>
            <a:prstDash val="solid"/>
          </a:ln>
        </p:spPr>
      </p:sp>
      <p:sp>
        <p:nvSpPr>
          <p:cNvPr id="9" name="Text 7"/>
          <p:cNvSpPr/>
          <p:nvPr/>
        </p:nvSpPr>
        <p:spPr>
          <a:xfrm>
            <a:off x="914400" y="3035808"/>
            <a:ext cx="3227832" cy="384048"/>
          </a:xfrm>
          <a:prstGeom prst="rect">
            <a:avLst/>
          </a:prstGeom>
          <a:noFill/>
          <a:ln/>
        </p:spPr>
        <p:txBody>
          <a:bodyPr wrap="square" rtlCol="0" anchor="ctr"/>
          <a:lstStyle/>
          <a:p>
            <a:pPr algn="ctr" indent="0" marL="0">
              <a:buNone/>
            </a:pPr>
            <a:r>
              <a:rPr lang="en-US" sz="1150" b="1" dirty="0">
                <a:solidFill>
                  <a:srgbClr val="0284C7"/>
                </a:solidFill>
                <a:latin typeface="Segoe UI" pitchFamily="34" charset="0"/>
                <a:ea typeface="Segoe UI" pitchFamily="34" charset="-122"/>
                <a:cs typeface="Segoe UI" pitchFamily="34" charset="-120"/>
              </a:rPr>
              <a:t>CLEAN ARCHITECTURE</a:t>
            </a:r>
            <a:endParaRPr lang="en-US" sz="1150" dirty="0"/>
          </a:p>
        </p:txBody>
      </p:sp>
      <p:sp>
        <p:nvSpPr>
          <p:cNvPr id="10" name="Text 8"/>
          <p:cNvSpPr/>
          <p:nvPr/>
        </p:nvSpPr>
        <p:spPr>
          <a:xfrm>
            <a:off x="914400" y="3419856"/>
            <a:ext cx="3227832" cy="347472"/>
          </a:xfrm>
          <a:prstGeom prst="rect">
            <a:avLst/>
          </a:prstGeom>
          <a:noFill/>
          <a:ln/>
        </p:spPr>
        <p:txBody>
          <a:bodyPr wrap="square" rtlCol="0" anchor="ctr"/>
          <a:lstStyle/>
          <a:p>
            <a:pPr algn="ctr" indent="0" marL="0">
              <a:buNone/>
            </a:pPr>
            <a:r>
              <a:rPr lang="en-US" sz="950" dirty="0">
                <a:solidFill>
                  <a:srgbClr val="94A3B8"/>
                </a:solidFill>
                <a:latin typeface="Segoe UI" pitchFamily="34" charset="0"/>
                <a:ea typeface="Segoe UI" pitchFamily="34" charset="-122"/>
                <a:cs typeface="Segoe UI" pitchFamily="34" charset="-120"/>
              </a:rPr>
              <a:t>NestJS + ReactJS + SQL Server</a:t>
            </a:r>
            <a:endParaRPr lang="en-US" sz="950" dirty="0"/>
          </a:p>
        </p:txBody>
      </p:sp>
      <p:sp>
        <p:nvSpPr>
          <p:cNvPr id="11" name="Shape 9"/>
          <p:cNvSpPr/>
          <p:nvPr/>
        </p:nvSpPr>
        <p:spPr>
          <a:xfrm>
            <a:off x="4480560" y="2971800"/>
            <a:ext cx="3227832" cy="868680"/>
          </a:xfrm>
          <a:prstGeom prst="roundRect">
            <a:avLst/>
          </a:prstGeom>
          <a:solidFill>
            <a:srgbClr val="182438"/>
          </a:solidFill>
          <a:ln w="19050">
            <a:solidFill>
              <a:srgbClr val="10B981"/>
            </a:solidFill>
            <a:prstDash val="solid"/>
          </a:ln>
        </p:spPr>
      </p:sp>
      <p:sp>
        <p:nvSpPr>
          <p:cNvPr id="12" name="Text 10"/>
          <p:cNvSpPr/>
          <p:nvPr/>
        </p:nvSpPr>
        <p:spPr>
          <a:xfrm>
            <a:off x="4480560" y="3035808"/>
            <a:ext cx="3227832" cy="384048"/>
          </a:xfrm>
          <a:prstGeom prst="rect">
            <a:avLst/>
          </a:prstGeom>
          <a:noFill/>
          <a:ln/>
        </p:spPr>
        <p:txBody>
          <a:bodyPr wrap="square" rtlCol="0" anchor="ctr"/>
          <a:lstStyle/>
          <a:p>
            <a:pPr algn="ctr" indent="0" marL="0">
              <a:buNone/>
            </a:pPr>
            <a:r>
              <a:rPr lang="en-US" sz="1150" b="1" dirty="0">
                <a:solidFill>
                  <a:srgbClr val="10B981"/>
                </a:solidFill>
                <a:latin typeface="Segoe UI" pitchFamily="34" charset="0"/>
                <a:ea typeface="Segoe UI" pitchFamily="34" charset="-122"/>
                <a:cs typeface="Segoe UI" pitchFamily="34" charset="-120"/>
              </a:rPr>
              <a:t>CRON JOB 00:00</a:t>
            </a:r>
            <a:endParaRPr lang="en-US" sz="1150" dirty="0"/>
          </a:p>
        </p:txBody>
      </p:sp>
      <p:sp>
        <p:nvSpPr>
          <p:cNvPr id="13" name="Text 11"/>
          <p:cNvSpPr/>
          <p:nvPr/>
        </p:nvSpPr>
        <p:spPr>
          <a:xfrm>
            <a:off x="4480560" y="3419856"/>
            <a:ext cx="3227832" cy="347472"/>
          </a:xfrm>
          <a:prstGeom prst="rect">
            <a:avLst/>
          </a:prstGeom>
          <a:noFill/>
          <a:ln/>
        </p:spPr>
        <p:txBody>
          <a:bodyPr wrap="square" rtlCol="0" anchor="ctr"/>
          <a:lstStyle/>
          <a:p>
            <a:pPr algn="ctr" indent="0" marL="0">
              <a:buNone/>
            </a:pPr>
            <a:r>
              <a:rPr lang="en-US" sz="950" dirty="0">
                <a:solidFill>
                  <a:srgbClr val="94A3B8"/>
                </a:solidFill>
                <a:latin typeface="Segoe UI" pitchFamily="34" charset="0"/>
                <a:ea typeface="Segoe UI" pitchFamily="34" charset="-122"/>
                <a:cs typeface="Segoe UI" pitchFamily="34" charset="-120"/>
              </a:rPr>
              <a:t>Real-time WebSocket &amp; Email Push</a:t>
            </a:r>
            <a:endParaRPr lang="en-US" sz="950" dirty="0"/>
          </a:p>
        </p:txBody>
      </p:sp>
      <p:sp>
        <p:nvSpPr>
          <p:cNvPr id="14" name="Shape 12"/>
          <p:cNvSpPr/>
          <p:nvPr/>
        </p:nvSpPr>
        <p:spPr>
          <a:xfrm>
            <a:off x="8046720" y="2971800"/>
            <a:ext cx="3227832" cy="868680"/>
          </a:xfrm>
          <a:prstGeom prst="roundRect">
            <a:avLst/>
          </a:prstGeom>
          <a:solidFill>
            <a:srgbClr val="182438"/>
          </a:solidFill>
          <a:ln w="19050">
            <a:solidFill>
              <a:srgbClr val="8B5CF6"/>
            </a:solidFill>
            <a:prstDash val="solid"/>
          </a:ln>
        </p:spPr>
      </p:sp>
      <p:sp>
        <p:nvSpPr>
          <p:cNvPr id="15" name="Text 13"/>
          <p:cNvSpPr/>
          <p:nvPr/>
        </p:nvSpPr>
        <p:spPr>
          <a:xfrm>
            <a:off x="8046720" y="3035808"/>
            <a:ext cx="3227832" cy="384048"/>
          </a:xfrm>
          <a:prstGeom prst="rect">
            <a:avLst/>
          </a:prstGeom>
          <a:noFill/>
          <a:ln/>
        </p:spPr>
        <p:txBody>
          <a:bodyPr wrap="square" rtlCol="0" anchor="ctr"/>
          <a:lstStyle/>
          <a:p>
            <a:pPr algn="ctr" indent="0" marL="0">
              <a:buNone/>
            </a:pPr>
            <a:r>
              <a:rPr lang="en-US" sz="1150" b="1" dirty="0">
                <a:solidFill>
                  <a:srgbClr val="8B5CF6"/>
                </a:solidFill>
                <a:latin typeface="Segoe UI" pitchFamily="34" charset="0"/>
                <a:ea typeface="Segoe UI" pitchFamily="34" charset="-122"/>
                <a:cs typeface="Segoe UI" pitchFamily="34" charset="-120"/>
              </a:rPr>
              <a:t>AI OCR &amp; LLM CHATBOT</a:t>
            </a:r>
            <a:endParaRPr lang="en-US" sz="1150" dirty="0"/>
          </a:p>
        </p:txBody>
      </p:sp>
      <p:sp>
        <p:nvSpPr>
          <p:cNvPr id="16" name="Text 14"/>
          <p:cNvSpPr/>
          <p:nvPr/>
        </p:nvSpPr>
        <p:spPr>
          <a:xfrm>
            <a:off x="8046720" y="3419856"/>
            <a:ext cx="3227832" cy="347472"/>
          </a:xfrm>
          <a:prstGeom prst="rect">
            <a:avLst/>
          </a:prstGeom>
          <a:noFill/>
          <a:ln/>
        </p:spPr>
        <p:txBody>
          <a:bodyPr wrap="square" rtlCol="0" anchor="ctr"/>
          <a:lstStyle/>
          <a:p>
            <a:pPr algn="ctr" indent="0" marL="0">
              <a:buNone/>
            </a:pPr>
            <a:r>
              <a:rPr lang="en-US" sz="950" dirty="0">
                <a:solidFill>
                  <a:srgbClr val="94A3B8"/>
                </a:solidFill>
                <a:latin typeface="Segoe UI" pitchFamily="34" charset="0"/>
                <a:ea typeface="Segoe UI" pitchFamily="34" charset="-122"/>
                <a:cs typeface="Segoe UI" pitchFamily="34" charset="-120"/>
              </a:rPr>
              <a:t>Tesseract WebCam &amp; Gemini API</a:t>
            </a:r>
            <a:endParaRPr lang="en-US" sz="950" dirty="0"/>
          </a:p>
        </p:txBody>
      </p:sp>
      <p:sp>
        <p:nvSpPr>
          <p:cNvPr id="17" name="Shape 15"/>
          <p:cNvSpPr/>
          <p:nvPr/>
        </p:nvSpPr>
        <p:spPr>
          <a:xfrm>
            <a:off x="1645920" y="4069080"/>
            <a:ext cx="8897112" cy="2103120"/>
          </a:xfrm>
          <a:prstGeom prst="roundRect">
            <a:avLst/>
          </a:prstGeom>
          <a:solidFill>
            <a:srgbClr val="121B2B"/>
          </a:solidFill>
          <a:ln w="19050">
            <a:solidFill>
              <a:srgbClr val="06B6D4"/>
            </a:solidFill>
            <a:prstDash val="solid"/>
          </a:ln>
        </p:spPr>
      </p:sp>
      <p:sp>
        <p:nvSpPr>
          <p:cNvPr id="18" name="Text 16"/>
          <p:cNvSpPr/>
          <p:nvPr/>
        </p:nvSpPr>
        <p:spPr>
          <a:xfrm>
            <a:off x="2011680" y="4251960"/>
            <a:ext cx="4023360" cy="1737360"/>
          </a:xfrm>
          <a:prstGeom prst="rect">
            <a:avLst/>
          </a:prstGeom>
          <a:noFill/>
          <a:ln/>
        </p:spPr>
        <p:txBody>
          <a:bodyPr wrap="square" rtlCol="0" anchor="ctr"/>
          <a:lstStyle/>
          <a:p>
            <a:pPr algn="l" indent="0" marL="0">
              <a:lnSpc>
                <a:spcPts val="2000"/>
              </a:lnSpc>
              <a:buNone/>
            </a:pPr>
            <a:r>
              <a:rPr lang="en-US" sz="1100" b="1" dirty="0">
                <a:solidFill>
                  <a:srgbClr val="FBBF24"/>
                </a:solidFill>
                <a:latin typeface="Segoe UI" pitchFamily="34" charset="0"/>
                <a:ea typeface="Segoe UI" pitchFamily="34" charset="-122"/>
                <a:cs typeface="Segoe UI" pitchFamily="34" charset="-120"/>
              </a:rPr>
              <a:t>GIẢNG VIÊN HƯỚNG DẪN
</a:t>
            </a:r>
            <a:pPr algn="l" indent="0" marL="0">
              <a:lnSpc>
                <a:spcPts val="2000"/>
              </a:lnSpc>
              <a:buNone/>
            </a:pPr>
            <a:r>
              <a:rPr lang="en-US" sz="1400" b="1" dirty="0">
                <a:solidFill>
                  <a:srgbClr val="FFFFFF"/>
                </a:solidFill>
                <a:latin typeface="Segoe UI" pitchFamily="34" charset="0"/>
                <a:ea typeface="Segoe UI" pitchFamily="34" charset="-122"/>
                <a:cs typeface="Segoe UI" pitchFamily="34" charset="-120"/>
              </a:rPr>
              <a:t>ThS. / TS. [Họ và Tên GVHD]
</a:t>
            </a:r>
            <a:pPr algn="l" indent="0" marL="0">
              <a:lnSpc>
                <a:spcPts val="2000"/>
              </a:lnSpc>
              <a:buNone/>
            </a:pPr>
            <a:r>
              <a:rPr lang="en-US" sz="1100" dirty="0">
                <a:solidFill>
                  <a:srgbClr val="94A3B8"/>
                </a:solidFill>
                <a:latin typeface="Segoe UI" pitchFamily="34" charset="0"/>
                <a:ea typeface="Segoe UI" pitchFamily="34" charset="-122"/>
                <a:cs typeface="Segoe UI" pitchFamily="34" charset="-120"/>
              </a:rPr>
              <a:t>Khoa Công nghệ Thông tin / Kỹ thuật Phần mềm</a:t>
            </a:r>
            <a:endParaRPr lang="en-US" sz="1100" dirty="0"/>
          </a:p>
          <a:p>
            <a:pPr algn="l" indent="0" marL="0">
              <a:lnSpc>
                <a:spcPts val="2000"/>
              </a:lnSpc>
              <a:buNone/>
            </a:pPr>
            <a:r>
              <a:rPr lang="en-US" sz="1100" dirty="0">
                <a:solidFill>
                  <a:srgbClr val="94A3B8"/>
                </a:solidFill>
                <a:latin typeface="Segoe UI" pitchFamily="34" charset="0"/>
                <a:ea typeface="Segoe UI" pitchFamily="34" charset="-122"/>
                <a:cs typeface="Segoe UI" pitchFamily="34" charset="-120"/>
              </a:rPr>
              <a:t>Trường Đại học [Tên Trường]</a:t>
            </a:r>
            <a:endParaRPr lang="en-US" sz="1100" dirty="0"/>
          </a:p>
        </p:txBody>
      </p:sp>
      <p:sp>
        <p:nvSpPr>
          <p:cNvPr id="19" name="Shape 17"/>
          <p:cNvSpPr/>
          <p:nvPr/>
        </p:nvSpPr>
        <p:spPr>
          <a:xfrm>
            <a:off x="6089904" y="4343400"/>
            <a:ext cx="0" cy="1554480"/>
          </a:xfrm>
          <a:prstGeom prst="line">
            <a:avLst/>
          </a:prstGeom>
          <a:noFill/>
          <a:ln w="19050">
            <a:solidFill>
              <a:srgbClr val="334155"/>
            </a:solidFill>
            <a:prstDash val="solid"/>
          </a:ln>
        </p:spPr>
      </p:sp>
      <p:sp>
        <p:nvSpPr>
          <p:cNvPr id="20" name="Text 18"/>
          <p:cNvSpPr/>
          <p:nvPr/>
        </p:nvSpPr>
        <p:spPr>
          <a:xfrm>
            <a:off x="6400800" y="4251960"/>
            <a:ext cx="3840480" cy="1737360"/>
          </a:xfrm>
          <a:prstGeom prst="rect">
            <a:avLst/>
          </a:prstGeom>
          <a:noFill/>
          <a:ln/>
        </p:spPr>
        <p:txBody>
          <a:bodyPr wrap="square" rtlCol="0" anchor="ctr"/>
          <a:lstStyle/>
          <a:p>
            <a:pPr algn="l" indent="0" marL="0">
              <a:lnSpc>
                <a:spcPts val="2000"/>
              </a:lnSpc>
              <a:buNone/>
            </a:pPr>
            <a:r>
              <a:rPr lang="en-US" sz="1100" b="1" dirty="0">
                <a:solidFill>
                  <a:srgbClr val="38BDF8"/>
                </a:solidFill>
                <a:latin typeface="Segoe UI" pitchFamily="34" charset="0"/>
                <a:ea typeface="Segoe UI" pitchFamily="34" charset="-122"/>
                <a:cs typeface="Segoe UI" pitchFamily="34" charset="-120"/>
              </a:rPr>
              <a:t>SINH VIÊN THỰC HIỆN
</a:t>
            </a:r>
            <a:pPr algn="l" indent="0" marL="0">
              <a:lnSpc>
                <a:spcPts val="2000"/>
              </a:lnSpc>
              <a:buNone/>
            </a:pPr>
            <a:r>
              <a:rPr lang="en-US" sz="1350" b="1" dirty="0">
                <a:solidFill>
                  <a:srgbClr val="FFFFFF"/>
                </a:solidFill>
                <a:latin typeface="Segoe UI" pitchFamily="34" charset="0"/>
                <a:ea typeface="Segoe UI" pitchFamily="34" charset="-122"/>
                <a:cs typeface="Segoe UI" pitchFamily="34" charset="-120"/>
              </a:rPr>
              <a:t>1. [Họ và Tên Sinh Viên] (MSSV: ...)
</a:t>
            </a:r>
            <a:pPr algn="l" indent="0" marL="0">
              <a:lnSpc>
                <a:spcPts val="2000"/>
              </a:lnSpc>
              <a:buNone/>
            </a:pPr>
            <a:r>
              <a:rPr lang="en-US" sz="1100" dirty="0">
                <a:solidFill>
                  <a:srgbClr val="E2E8F0"/>
                </a:solidFill>
                <a:latin typeface="Segoe UI" pitchFamily="34" charset="0"/>
                <a:ea typeface="Segoe UI" pitchFamily="34" charset="-122"/>
                <a:cs typeface="Segoe UI" pitchFamily="34" charset="-120"/>
              </a:rPr>
              <a:t>Chuyên ngành: Kỹ thuật Phần mềm
</a:t>
            </a:r>
            <a:pPr algn="l" indent="0" marL="0">
              <a:lnSpc>
                <a:spcPts val="2000"/>
              </a:lnSpc>
              <a:buNone/>
            </a:pPr>
            <a:r>
              <a:rPr lang="en-US" sz="1050" dirty="0">
                <a:solidFill>
                  <a:srgbClr val="94A3B8"/>
                </a:solidFill>
                <a:latin typeface="Segoe UI" pitchFamily="34" charset="0"/>
                <a:ea typeface="Segoe UI" pitchFamily="34" charset="-122"/>
                <a:cs typeface="Segoe UI" pitchFamily="34" charset="-120"/>
              </a:rPr>
              <a:t>Khóa / Niên khóa: 2022 - 2026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01. BỐI CẢNH &amp; ĐẶT VẤN ĐỀ</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BỐI CẢNH THỰC TẾ VÀ TÍNH CẤP THIẾT CỦA ĐỀ TÀI</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Thực trạng quản lý phương tiện cơ giới tại Việt Nam và những nút thắt cần giải quyết</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2/16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3520440" cy="5257800"/>
          </a:xfrm>
          <a:prstGeom prst="roundRect">
            <a:avLst/>
          </a:prstGeom>
          <a:solidFill>
            <a:srgbClr val="121B2B"/>
          </a:solidFill>
          <a:ln w="19050">
            <a:solidFill>
              <a:srgbClr val="EF4444"/>
            </a:solidFill>
            <a:prstDash val="solid"/>
          </a:ln>
        </p:spPr>
      </p:sp>
      <p:sp>
        <p:nvSpPr>
          <p:cNvPr id="13" name="Shape 11"/>
          <p:cNvSpPr/>
          <p:nvPr/>
        </p:nvSpPr>
        <p:spPr>
          <a:xfrm>
            <a:off x="731520" y="1234440"/>
            <a:ext cx="3154680" cy="320040"/>
          </a:xfrm>
          <a:prstGeom prst="roundRect">
            <a:avLst/>
          </a:prstGeom>
          <a:solidFill>
            <a:srgbClr val="0F172A"/>
          </a:solidFill>
          <a:ln w="12700">
            <a:solidFill>
              <a:srgbClr val="EF4444"/>
            </a:solidFill>
            <a:prstDash val="solid"/>
          </a:ln>
        </p:spPr>
      </p:sp>
      <p:sp>
        <p:nvSpPr>
          <p:cNvPr id="14" name="Text 12"/>
          <p:cNvSpPr/>
          <p:nvPr/>
        </p:nvSpPr>
        <p:spPr>
          <a:xfrm>
            <a:off x="731520" y="1234440"/>
            <a:ext cx="3154680" cy="320040"/>
          </a:xfrm>
          <a:prstGeom prst="rect">
            <a:avLst/>
          </a:prstGeom>
          <a:noFill/>
          <a:ln/>
        </p:spPr>
        <p:txBody>
          <a:bodyPr wrap="square" rtlCol="0" anchor="ctr"/>
          <a:lstStyle/>
          <a:p>
            <a:pPr algn="ctr" indent="0" marL="0">
              <a:buNone/>
            </a:pPr>
            <a:r>
              <a:rPr lang="en-US" sz="900" b="1" dirty="0">
                <a:solidFill>
                  <a:srgbClr val="EF4444"/>
                </a:solidFill>
                <a:latin typeface="Segoe UI" pitchFamily="34" charset="0"/>
                <a:ea typeface="Segoe UI" pitchFamily="34" charset="-122"/>
                <a:cs typeface="Segoe UI" pitchFamily="34" charset="-120"/>
              </a:rPr>
              <a:t>RỦI RO PHÁP LÝ &amp; AN TOÀN</a:t>
            </a:r>
            <a:endParaRPr lang="en-US" sz="900" dirty="0"/>
          </a:p>
        </p:txBody>
      </p:sp>
      <p:sp>
        <p:nvSpPr>
          <p:cNvPr id="15" name="Text 13"/>
          <p:cNvSpPr/>
          <p:nvPr/>
        </p:nvSpPr>
        <p:spPr>
          <a:xfrm>
            <a:off x="731520" y="1645920"/>
            <a:ext cx="3154680" cy="5943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Quên Mốc Đăng Kiểm &amp; Bảo Dưỡng</a:t>
            </a:r>
            <a:endParaRPr lang="en-US" sz="1400" dirty="0"/>
          </a:p>
        </p:txBody>
      </p:sp>
      <p:sp>
        <p:nvSpPr>
          <p:cNvPr id="16" name="Shape 14"/>
          <p:cNvSpPr/>
          <p:nvPr/>
        </p:nvSpPr>
        <p:spPr>
          <a:xfrm>
            <a:off x="731520" y="2286000"/>
            <a:ext cx="3154680" cy="0"/>
          </a:xfrm>
          <a:prstGeom prst="line">
            <a:avLst/>
          </a:prstGeom>
          <a:noFill/>
          <a:ln w="12700">
            <a:solidFill>
              <a:srgbClr val="334155"/>
            </a:solidFill>
            <a:prstDash val="solid"/>
          </a:ln>
        </p:spPr>
      </p:sp>
      <p:sp>
        <p:nvSpPr>
          <p:cNvPr id="17" name="Text 15"/>
          <p:cNvSpPr/>
          <p:nvPr/>
        </p:nvSpPr>
        <p:spPr>
          <a:xfrm>
            <a:off x="731520" y="2423160"/>
            <a:ext cx="3154680" cy="3657600"/>
          </a:xfrm>
          <a:prstGeom prst="rect">
            <a:avLst/>
          </a:prstGeom>
          <a:noFill/>
          <a:ln/>
        </p:spPr>
        <p:txBody>
          <a:bodyPr wrap="square" rtlCol="0" anchor="ctr"/>
          <a:lstStyle/>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Chủ xe cá nhân &amp; văn phòng bận rộn thường quên chu kỳ kiểm định kỹ thuật (đăng kiểm) và hạn bảo hiểm bắt buộc TNDS.</a:t>
            </a:r>
            <a:endParaRPr lang="en-US" sz="1100" dirty="0"/>
          </a:p>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Mức xử phạt hành chính rất nặng từ 4 - 16 triệu đồng kèm nguy cơ tước GPLX.</a:t>
            </a:r>
            <a:endParaRPr lang="en-US" sz="1100" dirty="0"/>
          </a:p>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Bỏ quên chu kỳ thay nhớt/phụ tùng gây hỏng hóc động cơ nghiêm trọng.</a:t>
            </a:r>
            <a:endParaRPr lang="en-US" sz="1100" dirty="0"/>
          </a:p>
        </p:txBody>
      </p:sp>
      <p:sp>
        <p:nvSpPr>
          <p:cNvPr id="18" name="Shape 16"/>
          <p:cNvSpPr/>
          <p:nvPr/>
        </p:nvSpPr>
        <p:spPr>
          <a:xfrm>
            <a:off x="4251960" y="1051560"/>
            <a:ext cx="3520440" cy="5257800"/>
          </a:xfrm>
          <a:prstGeom prst="roundRect">
            <a:avLst/>
          </a:prstGeom>
          <a:solidFill>
            <a:srgbClr val="121B2B"/>
          </a:solidFill>
          <a:ln w="19050">
            <a:solidFill>
              <a:srgbClr val="F59E0B"/>
            </a:solidFill>
            <a:prstDash val="solid"/>
          </a:ln>
        </p:spPr>
      </p:sp>
      <p:sp>
        <p:nvSpPr>
          <p:cNvPr id="19" name="Shape 17"/>
          <p:cNvSpPr/>
          <p:nvPr/>
        </p:nvSpPr>
        <p:spPr>
          <a:xfrm>
            <a:off x="4434840" y="1234440"/>
            <a:ext cx="3154680" cy="320040"/>
          </a:xfrm>
          <a:prstGeom prst="roundRect">
            <a:avLst/>
          </a:prstGeom>
          <a:solidFill>
            <a:srgbClr val="0F172A"/>
          </a:solidFill>
          <a:ln w="12700">
            <a:solidFill>
              <a:srgbClr val="F59E0B"/>
            </a:solidFill>
            <a:prstDash val="solid"/>
          </a:ln>
        </p:spPr>
      </p:sp>
      <p:sp>
        <p:nvSpPr>
          <p:cNvPr id="20" name="Text 18"/>
          <p:cNvSpPr/>
          <p:nvPr/>
        </p:nvSpPr>
        <p:spPr>
          <a:xfrm>
            <a:off x="4434840" y="1234440"/>
            <a:ext cx="3154680" cy="320040"/>
          </a:xfrm>
          <a:prstGeom prst="rect">
            <a:avLst/>
          </a:prstGeom>
          <a:noFill/>
          <a:ln/>
        </p:spPr>
        <p:txBody>
          <a:bodyPr wrap="square" rtlCol="0" anchor="ctr"/>
          <a:lstStyle/>
          <a:p>
            <a:pPr algn="ctr" indent="0" marL="0">
              <a:buNone/>
            </a:pPr>
            <a:r>
              <a:rPr lang="en-US" sz="900" b="1" dirty="0">
                <a:solidFill>
                  <a:srgbClr val="F59E0B"/>
                </a:solidFill>
                <a:latin typeface="Segoe UI" pitchFamily="34" charset="0"/>
                <a:ea typeface="Segoe UI" pitchFamily="34" charset="-122"/>
                <a:cs typeface="Segoe UI" pitchFamily="34" charset="-120"/>
              </a:rPr>
              <a:t>QUẢN TRỊ THỦ CÔNG RỜI RẠC</a:t>
            </a:r>
            <a:endParaRPr lang="en-US" sz="900" dirty="0"/>
          </a:p>
        </p:txBody>
      </p:sp>
      <p:sp>
        <p:nvSpPr>
          <p:cNvPr id="21" name="Text 19"/>
          <p:cNvSpPr/>
          <p:nvPr/>
        </p:nvSpPr>
        <p:spPr>
          <a:xfrm>
            <a:off x="4434840" y="1645920"/>
            <a:ext cx="3154680" cy="5943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Thiếu Công Cụ Giám Sát Chi Phí</a:t>
            </a:r>
            <a:endParaRPr lang="en-US" sz="1400" dirty="0"/>
          </a:p>
        </p:txBody>
      </p:sp>
      <p:sp>
        <p:nvSpPr>
          <p:cNvPr id="22" name="Shape 20"/>
          <p:cNvSpPr/>
          <p:nvPr/>
        </p:nvSpPr>
        <p:spPr>
          <a:xfrm>
            <a:off x="4434840" y="2286000"/>
            <a:ext cx="3154680" cy="0"/>
          </a:xfrm>
          <a:prstGeom prst="line">
            <a:avLst/>
          </a:prstGeom>
          <a:noFill/>
          <a:ln w="12700">
            <a:solidFill>
              <a:srgbClr val="334155"/>
            </a:solidFill>
            <a:prstDash val="solid"/>
          </a:ln>
        </p:spPr>
      </p:sp>
      <p:sp>
        <p:nvSpPr>
          <p:cNvPr id="23" name="Text 21"/>
          <p:cNvSpPr/>
          <p:nvPr/>
        </p:nvSpPr>
        <p:spPr>
          <a:xfrm>
            <a:off x="4434840" y="2423160"/>
            <a:ext cx="3154680" cy="3657600"/>
          </a:xfrm>
          <a:prstGeom prst="rect">
            <a:avLst/>
          </a:prstGeom>
          <a:noFill/>
          <a:ln/>
        </p:spPr>
        <p:txBody>
          <a:bodyPr wrap="square" rtlCol="0" anchor="ctr"/>
          <a:lstStyle/>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Sổ sách ghi chép bằng tay hoặc giữ hóa đơn giấy dễ thất lạc, không nắm được tổng chi phí sở hữu xe (TCO).</a:t>
            </a:r>
            <a:endParaRPr lang="en-US" sz="1100" dirty="0"/>
          </a:p>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Khó theo dõi số kilomet (Odometer) thực tế cho nhiều xe cùng lúc.</a:t>
            </a:r>
            <a:endParaRPr lang="en-US" sz="1100" dirty="0"/>
          </a:p>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Bất cập trong quản lý đội xe chạy dịch vụ (Grab, Taxi, Hợp tác xã).</a:t>
            </a:r>
            <a:endParaRPr lang="en-US" sz="1100" dirty="0"/>
          </a:p>
        </p:txBody>
      </p:sp>
      <p:sp>
        <p:nvSpPr>
          <p:cNvPr id="24" name="Shape 22"/>
          <p:cNvSpPr/>
          <p:nvPr/>
        </p:nvSpPr>
        <p:spPr>
          <a:xfrm>
            <a:off x="7955280" y="1051560"/>
            <a:ext cx="3520440" cy="5257800"/>
          </a:xfrm>
          <a:prstGeom prst="roundRect">
            <a:avLst/>
          </a:prstGeom>
          <a:solidFill>
            <a:srgbClr val="121B2B"/>
          </a:solidFill>
          <a:ln w="19050">
            <a:solidFill>
              <a:srgbClr val="0284C7"/>
            </a:solidFill>
            <a:prstDash val="solid"/>
          </a:ln>
        </p:spPr>
      </p:sp>
      <p:sp>
        <p:nvSpPr>
          <p:cNvPr id="25" name="Shape 23"/>
          <p:cNvSpPr/>
          <p:nvPr/>
        </p:nvSpPr>
        <p:spPr>
          <a:xfrm>
            <a:off x="8138160" y="1234440"/>
            <a:ext cx="3154680" cy="320040"/>
          </a:xfrm>
          <a:prstGeom prst="roundRect">
            <a:avLst/>
          </a:prstGeom>
          <a:solidFill>
            <a:srgbClr val="0F172A"/>
          </a:solidFill>
          <a:ln w="12700">
            <a:solidFill>
              <a:srgbClr val="0284C7"/>
            </a:solidFill>
            <a:prstDash val="solid"/>
          </a:ln>
        </p:spPr>
      </p:sp>
      <p:sp>
        <p:nvSpPr>
          <p:cNvPr id="26" name="Text 24"/>
          <p:cNvSpPr/>
          <p:nvPr/>
        </p:nvSpPr>
        <p:spPr>
          <a:xfrm>
            <a:off x="8138160" y="1234440"/>
            <a:ext cx="3154680" cy="320040"/>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GARA THIẾU KÊNH KỸ THUẬT SỐ</a:t>
            </a:r>
            <a:endParaRPr lang="en-US" sz="900" dirty="0"/>
          </a:p>
        </p:txBody>
      </p:sp>
      <p:sp>
        <p:nvSpPr>
          <p:cNvPr id="27" name="Text 25"/>
          <p:cNvSpPr/>
          <p:nvPr/>
        </p:nvSpPr>
        <p:spPr>
          <a:xfrm>
            <a:off x="8138160" y="1645920"/>
            <a:ext cx="3154680" cy="594360"/>
          </a:xfrm>
          <a:prstGeom prst="rect">
            <a:avLst/>
          </a:prstGeom>
          <a:noFill/>
          <a:ln/>
        </p:spPr>
        <p:txBody>
          <a:bodyPr wrap="square" rtlCol="0" anchor="ctr"/>
          <a:lstStyle/>
          <a:p>
            <a:pPr indent="0" marL="0">
              <a:buNone/>
            </a:pPr>
            <a:r>
              <a:rPr lang="en-US" sz="1400" b="1" dirty="0">
                <a:solidFill>
                  <a:srgbClr val="FFFFFF"/>
                </a:solidFill>
                <a:latin typeface="Segoe UI" pitchFamily="34" charset="0"/>
                <a:ea typeface="Segoe UI" pitchFamily="34" charset="-122"/>
                <a:cs typeface="Segoe UI" pitchFamily="34" charset="-120"/>
              </a:rPr>
              <a:t>Quy Trình Dịch Vụ Chưa Minh Bạch</a:t>
            </a:r>
            <a:endParaRPr lang="en-US" sz="1400" dirty="0"/>
          </a:p>
        </p:txBody>
      </p:sp>
      <p:sp>
        <p:nvSpPr>
          <p:cNvPr id="28" name="Shape 26"/>
          <p:cNvSpPr/>
          <p:nvPr/>
        </p:nvSpPr>
        <p:spPr>
          <a:xfrm>
            <a:off x="8138160" y="2286000"/>
            <a:ext cx="3154680" cy="0"/>
          </a:xfrm>
          <a:prstGeom prst="line">
            <a:avLst/>
          </a:prstGeom>
          <a:noFill/>
          <a:ln w="12700">
            <a:solidFill>
              <a:srgbClr val="334155"/>
            </a:solidFill>
            <a:prstDash val="solid"/>
          </a:ln>
        </p:spPr>
      </p:sp>
      <p:sp>
        <p:nvSpPr>
          <p:cNvPr id="29" name="Text 27"/>
          <p:cNvSpPr/>
          <p:nvPr/>
        </p:nvSpPr>
        <p:spPr>
          <a:xfrm>
            <a:off x="8138160" y="2423160"/>
            <a:ext cx="3154680" cy="3657600"/>
          </a:xfrm>
          <a:prstGeom prst="rect">
            <a:avLst/>
          </a:prstGeom>
          <a:noFill/>
          <a:ln/>
        </p:spPr>
        <p:txBody>
          <a:bodyPr wrap="square" rtlCol="0" anchor="ctr"/>
          <a:lstStyle/>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Tiếp nhận xe thủ công qua điện thoại gây quá tải và trễ hẹn giờ cao điểm.</a:t>
            </a:r>
            <a:endParaRPr lang="en-US" sz="1100" dirty="0"/>
          </a:p>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Chưa có quy trình báo giá điện tử và nghiệm thu 4 bước khép kín.</a:t>
            </a:r>
            <a:endParaRPr lang="en-US" sz="1100" dirty="0"/>
          </a:p>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Thiếu sổ nhật ký bảo dưỡng điện tử liên thông giữa khách hàng và xưởng.</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02. MỤC TIÊU &amp; TÁC NHÂN HỆ THỐNG</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MỤC TIÊU ĐỀ TÀI &amp; PHÂN QUYỀN ĐA VAI TRÒ (RBAC)</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Số hóa toàn diện sự phối hợp giữa Chủ xe (User), Xưởng dịch vụ (Garage) và Quản trị viên (Admin)</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3/16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217920" cy="5257800"/>
          </a:xfrm>
          <a:prstGeom prst="roundRect">
            <a:avLst/>
          </a:prstGeom>
          <a:solidFill>
            <a:srgbClr val="121B2B"/>
          </a:solidFill>
          <a:ln w="19050">
            <a:solidFill>
              <a:srgbClr val="06B6D4"/>
            </a:solidFill>
            <a:prstDash val="solid"/>
          </a:ln>
        </p:spPr>
      </p:sp>
      <p:pic>
        <p:nvPicPr>
          <p:cNvPr id="13" name="Image 0" descr="D:\DOANTOTNGHIEP\hinh_3_1_use_case_tong_quat.png">    </p:cNvPr>
          <p:cNvPicPr>
            <a:picLocks noChangeAspect="1"/>
          </p:cNvPicPr>
          <p:nvPr/>
        </p:nvPicPr>
        <p:blipFill>
          <a:blip r:embed="rId1"/>
          <a:stretch>
            <a:fillRect/>
          </a:stretch>
        </p:blipFill>
        <p:spPr>
          <a:xfrm>
            <a:off x="621792" y="1124712"/>
            <a:ext cx="6071616" cy="4873752"/>
          </a:xfrm>
          <a:prstGeom prst="rect">
            <a:avLst/>
          </a:prstGeom>
        </p:spPr>
      </p:pic>
      <p:sp>
        <p:nvSpPr>
          <p:cNvPr id="14" name="Shape 11"/>
          <p:cNvSpPr/>
          <p:nvPr/>
        </p:nvSpPr>
        <p:spPr>
          <a:xfrm>
            <a:off x="621792" y="5980176"/>
            <a:ext cx="607161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07161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SƠ ĐỒ USE CASE TỔNG QUÁT HỆ THỐNG ACOH</a:t>
            </a:r>
            <a:endParaRPr lang="en-US" sz="950" dirty="0"/>
          </a:p>
        </p:txBody>
      </p:sp>
      <p:sp>
        <p:nvSpPr>
          <p:cNvPr id="16" name="Shape 13"/>
          <p:cNvSpPr/>
          <p:nvPr/>
        </p:nvSpPr>
        <p:spPr>
          <a:xfrm>
            <a:off x="6949440" y="1051560"/>
            <a:ext cx="4690872" cy="1691640"/>
          </a:xfrm>
          <a:prstGeom prst="roundRect">
            <a:avLst/>
          </a:prstGeom>
          <a:solidFill>
            <a:srgbClr val="121B2B"/>
          </a:solidFill>
          <a:ln w="19050">
            <a:solidFill>
              <a:srgbClr val="0284C7"/>
            </a:solidFill>
            <a:prstDash val="solid"/>
          </a:ln>
        </p:spPr>
      </p:sp>
      <p:sp>
        <p:nvSpPr>
          <p:cNvPr id="17" name="Text 14"/>
          <p:cNvSpPr/>
          <p:nvPr/>
        </p:nvSpPr>
        <p:spPr>
          <a:xfrm>
            <a:off x="7132320" y="1188720"/>
            <a:ext cx="2926080" cy="320040"/>
          </a:xfrm>
          <a:prstGeom prst="rect">
            <a:avLst/>
          </a:prstGeom>
          <a:noFill/>
          <a:ln/>
        </p:spPr>
        <p:txBody>
          <a:bodyPr wrap="square" rtlCol="0" anchor="ctr"/>
          <a:lstStyle/>
          <a:p>
            <a:pPr indent="0" marL="0">
              <a:buNone/>
            </a:pPr>
            <a:r>
              <a:rPr lang="en-US" sz="1200" b="1" dirty="0">
                <a:solidFill>
                  <a:srgbClr val="0284C7"/>
                </a:solidFill>
                <a:latin typeface="Segoe UI" pitchFamily="34" charset="0"/>
                <a:ea typeface="Segoe UI" pitchFamily="34" charset="-122"/>
                <a:cs typeface="Segoe UI" pitchFamily="34" charset="-120"/>
              </a:rPr>
              <a:t>CHỦ XE (USER)</a:t>
            </a:r>
            <a:endParaRPr lang="en-US" sz="1200" dirty="0"/>
          </a:p>
        </p:txBody>
      </p:sp>
      <p:sp>
        <p:nvSpPr>
          <p:cNvPr id="18" name="Shape 15"/>
          <p:cNvSpPr/>
          <p:nvPr/>
        </p:nvSpPr>
        <p:spPr>
          <a:xfrm>
            <a:off x="10241280" y="1188720"/>
            <a:ext cx="1188720" cy="256032"/>
          </a:xfrm>
          <a:prstGeom prst="roundRect">
            <a:avLst/>
          </a:prstGeom>
          <a:solidFill>
            <a:srgbClr val="0F172A"/>
          </a:solidFill>
          <a:ln w="12700">
            <a:solidFill>
              <a:srgbClr val="0284C7"/>
            </a:solidFill>
            <a:prstDash val="solid"/>
          </a:ln>
        </p:spPr>
      </p:sp>
      <p:sp>
        <p:nvSpPr>
          <p:cNvPr id="19" name="Text 16"/>
          <p:cNvSpPr/>
          <p:nvPr/>
        </p:nvSpPr>
        <p:spPr>
          <a:xfrm>
            <a:off x="10241280" y="1188720"/>
            <a:ext cx="1188720" cy="256032"/>
          </a:xfrm>
          <a:prstGeom prst="rect">
            <a:avLst/>
          </a:prstGeom>
          <a:noFill/>
          <a:ln/>
        </p:spPr>
        <p:txBody>
          <a:bodyPr wrap="square" rtlCol="0" anchor="ctr"/>
          <a:lstStyle/>
          <a:p>
            <a:pPr algn="ctr" indent="0" marL="0">
              <a:buNone/>
            </a:pPr>
            <a:r>
              <a:rPr lang="en-US" sz="850" b="1" dirty="0">
                <a:solidFill>
                  <a:srgbClr val="0284C7"/>
                </a:solidFill>
                <a:latin typeface="Segoe UI" pitchFamily="34" charset="0"/>
                <a:ea typeface="Segoe UI" pitchFamily="34" charset="-122"/>
                <a:cs typeface="Segoe UI" pitchFamily="34" charset="-120"/>
              </a:rPr>
              <a:t>ROLE: USER</a:t>
            </a:r>
            <a:endParaRPr lang="en-US" sz="850" dirty="0"/>
          </a:p>
        </p:txBody>
      </p:sp>
      <p:sp>
        <p:nvSpPr>
          <p:cNvPr id="20" name="Text 17"/>
          <p:cNvSpPr/>
          <p:nvPr/>
        </p:nvSpPr>
        <p:spPr>
          <a:xfrm>
            <a:off x="7132320" y="1554480"/>
            <a:ext cx="4297680" cy="1097280"/>
          </a:xfrm>
          <a:prstGeom prst="rect">
            <a:avLst/>
          </a:prstGeom>
          <a:noFill/>
          <a:ln/>
        </p:spPr>
        <p:txBody>
          <a:bodyPr wrap="square" rtlCol="0" anchor="ctr"/>
          <a:lstStyle/>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Quản lý ô tô / xe máy &amp; xe chạy dịch vụ (HTX, Phù hiệu).</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Nhận cảnh báo đa kênh Real-time Socket.IO &amp; Email SMTP.</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Đặt lịch hẹn xưởng, duyệt báo giá điện tử, hỏi đáp AI Chatbot.</a:t>
            </a:r>
            <a:endParaRPr lang="en-US" sz="1000" dirty="0"/>
          </a:p>
        </p:txBody>
      </p:sp>
      <p:sp>
        <p:nvSpPr>
          <p:cNvPr id="21" name="Shape 18"/>
          <p:cNvSpPr/>
          <p:nvPr/>
        </p:nvSpPr>
        <p:spPr>
          <a:xfrm>
            <a:off x="6949440" y="2834640"/>
            <a:ext cx="4690872" cy="1691640"/>
          </a:xfrm>
          <a:prstGeom prst="roundRect">
            <a:avLst/>
          </a:prstGeom>
          <a:solidFill>
            <a:srgbClr val="121B2B"/>
          </a:solidFill>
          <a:ln w="19050">
            <a:solidFill>
              <a:srgbClr val="F59E0B"/>
            </a:solidFill>
            <a:prstDash val="solid"/>
          </a:ln>
        </p:spPr>
      </p:sp>
      <p:sp>
        <p:nvSpPr>
          <p:cNvPr id="22" name="Text 19"/>
          <p:cNvSpPr/>
          <p:nvPr/>
        </p:nvSpPr>
        <p:spPr>
          <a:xfrm>
            <a:off x="7132320" y="2971800"/>
            <a:ext cx="2926080" cy="320040"/>
          </a:xfrm>
          <a:prstGeom prst="rect">
            <a:avLst/>
          </a:prstGeom>
          <a:noFill/>
          <a:ln/>
        </p:spPr>
        <p:txBody>
          <a:bodyPr wrap="square" rtlCol="0" anchor="ctr"/>
          <a:lstStyle/>
          <a:p>
            <a:pPr indent="0" marL="0">
              <a:buNone/>
            </a:pPr>
            <a:r>
              <a:rPr lang="en-US" sz="1200" b="1" dirty="0">
                <a:solidFill>
                  <a:srgbClr val="F59E0B"/>
                </a:solidFill>
                <a:latin typeface="Segoe UI" pitchFamily="34" charset="0"/>
                <a:ea typeface="Segoe UI" pitchFamily="34" charset="-122"/>
                <a:cs typeface="Segoe UI" pitchFamily="34" charset="-120"/>
              </a:rPr>
              <a:t>XƯỞNG DỊCH VỤ (GARAGE)</a:t>
            </a:r>
            <a:endParaRPr lang="en-US" sz="1200" dirty="0"/>
          </a:p>
        </p:txBody>
      </p:sp>
      <p:sp>
        <p:nvSpPr>
          <p:cNvPr id="23" name="Shape 20"/>
          <p:cNvSpPr/>
          <p:nvPr/>
        </p:nvSpPr>
        <p:spPr>
          <a:xfrm>
            <a:off x="10241280" y="2971800"/>
            <a:ext cx="1188720" cy="256032"/>
          </a:xfrm>
          <a:prstGeom prst="roundRect">
            <a:avLst/>
          </a:prstGeom>
          <a:solidFill>
            <a:srgbClr val="0F172A"/>
          </a:solidFill>
          <a:ln w="12700">
            <a:solidFill>
              <a:srgbClr val="F59E0B"/>
            </a:solidFill>
            <a:prstDash val="solid"/>
          </a:ln>
        </p:spPr>
      </p:sp>
      <p:sp>
        <p:nvSpPr>
          <p:cNvPr id="24" name="Text 21"/>
          <p:cNvSpPr/>
          <p:nvPr/>
        </p:nvSpPr>
        <p:spPr>
          <a:xfrm>
            <a:off x="10241280" y="2971800"/>
            <a:ext cx="1188720" cy="256032"/>
          </a:xfrm>
          <a:prstGeom prst="rect">
            <a:avLst/>
          </a:prstGeom>
          <a:noFill/>
          <a:ln/>
        </p:spPr>
        <p:txBody>
          <a:bodyPr wrap="square" rtlCol="0" anchor="ctr"/>
          <a:lstStyle/>
          <a:p>
            <a:pPr algn="ctr" indent="0" marL="0">
              <a:buNone/>
            </a:pPr>
            <a:r>
              <a:rPr lang="en-US" sz="850" b="1" dirty="0">
                <a:solidFill>
                  <a:srgbClr val="F59E0B"/>
                </a:solidFill>
                <a:latin typeface="Segoe UI" pitchFamily="34" charset="0"/>
                <a:ea typeface="Segoe UI" pitchFamily="34" charset="-122"/>
                <a:cs typeface="Segoe UI" pitchFamily="34" charset="-120"/>
              </a:rPr>
              <a:t>ROLE: GARAGE</a:t>
            </a:r>
            <a:endParaRPr lang="en-US" sz="850" dirty="0"/>
          </a:p>
        </p:txBody>
      </p:sp>
      <p:sp>
        <p:nvSpPr>
          <p:cNvPr id="25" name="Text 22"/>
          <p:cNvSpPr/>
          <p:nvPr/>
        </p:nvSpPr>
        <p:spPr>
          <a:xfrm>
            <a:off x="7132320" y="3337560"/>
            <a:ext cx="4297680" cy="1097280"/>
          </a:xfrm>
          <a:prstGeom prst="rect">
            <a:avLst/>
          </a:prstGeom>
          <a:noFill/>
          <a:ln/>
        </p:spPr>
        <p:txBody>
          <a:bodyPr wrap="square" rtlCol="0" anchor="ctr"/>
          <a:lstStyle/>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Tiếp nhận xe bằng AI OCR quét biển số qua WebCam.</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Tích chọn checklist mốc km, lập báo giá điện tử.</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Cập nhật sổ bảo dưỡng điện tử, xuất hóa đơn chi tiết.</a:t>
            </a:r>
            <a:endParaRPr lang="en-US" sz="1000" dirty="0"/>
          </a:p>
        </p:txBody>
      </p:sp>
      <p:sp>
        <p:nvSpPr>
          <p:cNvPr id="26" name="Shape 23"/>
          <p:cNvSpPr/>
          <p:nvPr/>
        </p:nvSpPr>
        <p:spPr>
          <a:xfrm>
            <a:off x="6949440" y="4617720"/>
            <a:ext cx="4690872" cy="1691640"/>
          </a:xfrm>
          <a:prstGeom prst="roundRect">
            <a:avLst/>
          </a:prstGeom>
          <a:solidFill>
            <a:srgbClr val="121B2B"/>
          </a:solidFill>
          <a:ln w="19050">
            <a:solidFill>
              <a:srgbClr val="8B5CF6"/>
            </a:solidFill>
            <a:prstDash val="solid"/>
          </a:ln>
        </p:spPr>
      </p:sp>
      <p:sp>
        <p:nvSpPr>
          <p:cNvPr id="27" name="Text 24"/>
          <p:cNvSpPr/>
          <p:nvPr/>
        </p:nvSpPr>
        <p:spPr>
          <a:xfrm>
            <a:off x="7132320" y="4754880"/>
            <a:ext cx="2926080" cy="320040"/>
          </a:xfrm>
          <a:prstGeom prst="rect">
            <a:avLst/>
          </a:prstGeom>
          <a:noFill/>
          <a:ln/>
        </p:spPr>
        <p:txBody>
          <a:bodyPr wrap="square" rtlCol="0" anchor="ctr"/>
          <a:lstStyle/>
          <a:p>
            <a:pPr indent="0" marL="0">
              <a:buNone/>
            </a:pPr>
            <a:r>
              <a:rPr lang="en-US" sz="1200" b="1" dirty="0">
                <a:solidFill>
                  <a:srgbClr val="8B5CF6"/>
                </a:solidFill>
                <a:latin typeface="Segoe UI" pitchFamily="34" charset="0"/>
                <a:ea typeface="Segoe UI" pitchFamily="34" charset="-122"/>
                <a:cs typeface="Segoe UI" pitchFamily="34" charset="-120"/>
              </a:rPr>
              <a:t>QUẢN TRỊ VIÊN (ADMIN)</a:t>
            </a:r>
            <a:endParaRPr lang="en-US" sz="1200" dirty="0"/>
          </a:p>
        </p:txBody>
      </p:sp>
      <p:sp>
        <p:nvSpPr>
          <p:cNvPr id="28" name="Shape 25"/>
          <p:cNvSpPr/>
          <p:nvPr/>
        </p:nvSpPr>
        <p:spPr>
          <a:xfrm>
            <a:off x="10241280" y="4754880"/>
            <a:ext cx="1188720" cy="256032"/>
          </a:xfrm>
          <a:prstGeom prst="roundRect">
            <a:avLst/>
          </a:prstGeom>
          <a:solidFill>
            <a:srgbClr val="0F172A"/>
          </a:solidFill>
          <a:ln w="12700">
            <a:solidFill>
              <a:srgbClr val="8B5CF6"/>
            </a:solidFill>
            <a:prstDash val="solid"/>
          </a:ln>
        </p:spPr>
      </p:sp>
      <p:sp>
        <p:nvSpPr>
          <p:cNvPr id="29" name="Text 26"/>
          <p:cNvSpPr/>
          <p:nvPr/>
        </p:nvSpPr>
        <p:spPr>
          <a:xfrm>
            <a:off x="10241280" y="4754880"/>
            <a:ext cx="1188720" cy="256032"/>
          </a:xfrm>
          <a:prstGeom prst="rect">
            <a:avLst/>
          </a:prstGeom>
          <a:noFill/>
          <a:ln/>
        </p:spPr>
        <p:txBody>
          <a:bodyPr wrap="square" rtlCol="0" anchor="ctr"/>
          <a:lstStyle/>
          <a:p>
            <a:pPr algn="ctr" indent="0" marL="0">
              <a:buNone/>
            </a:pPr>
            <a:r>
              <a:rPr lang="en-US" sz="850" b="1" dirty="0">
                <a:solidFill>
                  <a:srgbClr val="8B5CF6"/>
                </a:solidFill>
                <a:latin typeface="Segoe UI" pitchFamily="34" charset="0"/>
                <a:ea typeface="Segoe UI" pitchFamily="34" charset="-122"/>
                <a:cs typeface="Segoe UI" pitchFamily="34" charset="-120"/>
              </a:rPr>
              <a:t>ROLE: ADMIN</a:t>
            </a:r>
            <a:endParaRPr lang="en-US" sz="850" dirty="0"/>
          </a:p>
        </p:txBody>
      </p:sp>
      <p:sp>
        <p:nvSpPr>
          <p:cNvPr id="30" name="Text 27"/>
          <p:cNvSpPr/>
          <p:nvPr/>
        </p:nvSpPr>
        <p:spPr>
          <a:xfrm>
            <a:off x="7132320" y="5120640"/>
            <a:ext cx="4297680" cy="1097280"/>
          </a:xfrm>
          <a:prstGeom prst="rect">
            <a:avLst/>
          </a:prstGeom>
          <a:noFill/>
          <a:ln/>
        </p:spPr>
        <p:txBody>
          <a:bodyPr wrap="square" rtlCol="0" anchor="ctr"/>
          <a:lstStyle/>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Quản lý người dùng, phân quyền bảo mật RBAC nghiêm ngặt.</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Kiểm duyệt gara đối tác liên kết tham gia mạng lưới.</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Giám sát Dashboard doanh thu và tăng trưởng toàn hệ thống.</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03. KIẾN TRÚC HỆ THỐNG</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KIẾN TRÚC CLEAN ARCHITECTURE &amp; CÔNG NGHỆ (TECH STACK)</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Mô hình 3 lớp phân tách Controller - Service - Data Layer đảm bảo hiệu năng và tính mở rộng cao</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4/16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217920" cy="5257800"/>
          </a:xfrm>
          <a:prstGeom prst="roundRect">
            <a:avLst/>
          </a:prstGeom>
          <a:solidFill>
            <a:srgbClr val="121B2B"/>
          </a:solidFill>
          <a:ln w="19050">
            <a:solidFill>
              <a:srgbClr val="06B6D4"/>
            </a:solidFill>
            <a:prstDash val="solid"/>
          </a:ln>
        </p:spPr>
      </p:sp>
      <p:pic>
        <p:nvPicPr>
          <p:cNvPr id="13" name="Image 0" descr="D:\DOANTOTNGHIEP\hinh_2_1_clean_architecture.png">    </p:cNvPr>
          <p:cNvPicPr>
            <a:picLocks noChangeAspect="1"/>
          </p:cNvPicPr>
          <p:nvPr/>
        </p:nvPicPr>
        <p:blipFill>
          <a:blip r:embed="rId1"/>
          <a:stretch>
            <a:fillRect/>
          </a:stretch>
        </p:blipFill>
        <p:spPr>
          <a:xfrm>
            <a:off x="621792" y="1124712"/>
            <a:ext cx="6071616" cy="4873752"/>
          </a:xfrm>
          <a:prstGeom prst="rect">
            <a:avLst/>
          </a:prstGeom>
        </p:spPr>
      </p:pic>
      <p:sp>
        <p:nvSpPr>
          <p:cNvPr id="14" name="Shape 11"/>
          <p:cNvSpPr/>
          <p:nvPr/>
        </p:nvSpPr>
        <p:spPr>
          <a:xfrm>
            <a:off x="621792" y="5980176"/>
            <a:ext cx="607161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07161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MÔ HÌNH CLEAN ARCHITECTURE 3 TẦNG ĐỘC LẬP</a:t>
            </a:r>
            <a:endParaRPr lang="en-US" sz="950" dirty="0"/>
          </a:p>
        </p:txBody>
      </p:sp>
      <p:sp>
        <p:nvSpPr>
          <p:cNvPr id="16" name="Shape 13"/>
          <p:cNvSpPr/>
          <p:nvPr/>
        </p:nvSpPr>
        <p:spPr>
          <a:xfrm>
            <a:off x="6949440" y="1051560"/>
            <a:ext cx="4690872" cy="1691640"/>
          </a:xfrm>
          <a:prstGeom prst="roundRect">
            <a:avLst/>
          </a:prstGeom>
          <a:solidFill>
            <a:srgbClr val="121B2B"/>
          </a:solidFill>
          <a:ln w="19050">
            <a:solidFill>
              <a:srgbClr val="0284C7"/>
            </a:solidFill>
            <a:prstDash val="solid"/>
          </a:ln>
        </p:spPr>
      </p:sp>
      <p:sp>
        <p:nvSpPr>
          <p:cNvPr id="17" name="Text 14"/>
          <p:cNvSpPr/>
          <p:nvPr/>
        </p:nvSpPr>
        <p:spPr>
          <a:xfrm>
            <a:off x="7132320" y="1188720"/>
            <a:ext cx="4297680" cy="320040"/>
          </a:xfrm>
          <a:prstGeom prst="rect">
            <a:avLst/>
          </a:prstGeom>
          <a:noFill/>
          <a:ln/>
        </p:spPr>
        <p:txBody>
          <a:bodyPr wrap="square" rtlCol="0" anchor="ctr"/>
          <a:lstStyle/>
          <a:p>
            <a:pPr indent="0" marL="0">
              <a:buNone/>
            </a:pPr>
            <a:r>
              <a:rPr lang="en-US" sz="1150" b="1" dirty="0">
                <a:solidFill>
                  <a:srgbClr val="0284C7"/>
                </a:solidFill>
                <a:latin typeface="Segoe UI" pitchFamily="34" charset="0"/>
                <a:ea typeface="Segoe UI" pitchFamily="34" charset="-122"/>
                <a:cs typeface="Segoe UI" pitchFamily="34" charset="-120"/>
              </a:rPr>
              <a:t>FRONT-END (CLIENT LAYER)</a:t>
            </a:r>
            <a:endParaRPr lang="en-US" sz="1150" dirty="0"/>
          </a:p>
        </p:txBody>
      </p:sp>
      <p:sp>
        <p:nvSpPr>
          <p:cNvPr id="18" name="Text 15"/>
          <p:cNvSpPr/>
          <p:nvPr/>
        </p:nvSpPr>
        <p:spPr>
          <a:xfrm>
            <a:off x="7132320" y="1554480"/>
            <a:ext cx="4297680" cy="1097280"/>
          </a:xfrm>
          <a:prstGeom prst="rect">
            <a:avLst/>
          </a:prstGeom>
          <a:noFill/>
          <a:ln/>
        </p:spPr>
        <p:txBody>
          <a:bodyPr wrap="square" rtlCol="0" anchor="ctr"/>
          <a:lstStyle/>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ReactJS (Vite Build Tool) — Tối ưu tốc độ tải trang cực nhanh</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TailwindCSS &amp; Shadcn/ui — UI/UX Mobile-First Responsive</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Socket.IO Client &amp; Recharts — Nhận thông báo tức thì &amp; Biểu đồ trực quan</a:t>
            </a:r>
            <a:endParaRPr lang="en-US" sz="1000" dirty="0"/>
          </a:p>
        </p:txBody>
      </p:sp>
      <p:sp>
        <p:nvSpPr>
          <p:cNvPr id="19" name="Shape 16"/>
          <p:cNvSpPr/>
          <p:nvPr/>
        </p:nvSpPr>
        <p:spPr>
          <a:xfrm>
            <a:off x="6949440" y="2834640"/>
            <a:ext cx="4690872" cy="1691640"/>
          </a:xfrm>
          <a:prstGeom prst="roundRect">
            <a:avLst/>
          </a:prstGeom>
          <a:solidFill>
            <a:srgbClr val="121B2B"/>
          </a:solidFill>
          <a:ln w="19050">
            <a:solidFill>
              <a:srgbClr val="10B981"/>
            </a:solidFill>
            <a:prstDash val="solid"/>
          </a:ln>
        </p:spPr>
      </p:sp>
      <p:sp>
        <p:nvSpPr>
          <p:cNvPr id="20" name="Text 17"/>
          <p:cNvSpPr/>
          <p:nvPr/>
        </p:nvSpPr>
        <p:spPr>
          <a:xfrm>
            <a:off x="7132320" y="2971800"/>
            <a:ext cx="4297680" cy="320040"/>
          </a:xfrm>
          <a:prstGeom prst="rect">
            <a:avLst/>
          </a:prstGeom>
          <a:noFill/>
          <a:ln/>
        </p:spPr>
        <p:txBody>
          <a:bodyPr wrap="square" rtlCol="0" anchor="ctr"/>
          <a:lstStyle/>
          <a:p>
            <a:pPr indent="0" marL="0">
              <a:buNone/>
            </a:pPr>
            <a:r>
              <a:rPr lang="en-US" sz="1150" b="1" dirty="0">
                <a:solidFill>
                  <a:srgbClr val="10B981"/>
                </a:solidFill>
                <a:latin typeface="Segoe UI" pitchFamily="34" charset="0"/>
                <a:ea typeface="Segoe UI" pitchFamily="34" charset="-122"/>
                <a:cs typeface="Segoe UI" pitchFamily="34" charset="-120"/>
              </a:rPr>
              <a:t>BACK-END (APPLICATION LAYER)</a:t>
            </a:r>
            <a:endParaRPr lang="en-US" sz="1150" dirty="0"/>
          </a:p>
        </p:txBody>
      </p:sp>
      <p:sp>
        <p:nvSpPr>
          <p:cNvPr id="21" name="Text 18"/>
          <p:cNvSpPr/>
          <p:nvPr/>
        </p:nvSpPr>
        <p:spPr>
          <a:xfrm>
            <a:off x="7132320" y="3337560"/>
            <a:ext cx="4297680" cy="1097280"/>
          </a:xfrm>
          <a:prstGeom prst="rect">
            <a:avLst/>
          </a:prstGeom>
          <a:noFill/>
          <a:ln/>
        </p:spPr>
        <p:txBody>
          <a:bodyPr wrap="square" rtlCol="0" anchor="ctr"/>
          <a:lstStyle/>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NestJS Framework (TypeScript) — Kiến trúc Module hóa chuẩn Clean Arch</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JWT Auth &amp; BCrypt — Bảo mật phân quyền RBAC &amp; mã hóa một chiều</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Nodemailer SMTP &amp; Cron Task Scheduling — Tự động quét gửi mail</a:t>
            </a:r>
            <a:endParaRPr lang="en-US" sz="1000" dirty="0"/>
          </a:p>
        </p:txBody>
      </p:sp>
      <p:sp>
        <p:nvSpPr>
          <p:cNvPr id="22" name="Shape 19"/>
          <p:cNvSpPr/>
          <p:nvPr/>
        </p:nvSpPr>
        <p:spPr>
          <a:xfrm>
            <a:off x="6949440" y="4617720"/>
            <a:ext cx="4690872" cy="1691640"/>
          </a:xfrm>
          <a:prstGeom prst="roundRect">
            <a:avLst/>
          </a:prstGeom>
          <a:solidFill>
            <a:srgbClr val="121B2B"/>
          </a:solidFill>
          <a:ln w="19050">
            <a:solidFill>
              <a:srgbClr val="8B5CF6"/>
            </a:solidFill>
            <a:prstDash val="solid"/>
          </a:ln>
        </p:spPr>
      </p:sp>
      <p:sp>
        <p:nvSpPr>
          <p:cNvPr id="23" name="Text 20"/>
          <p:cNvSpPr/>
          <p:nvPr/>
        </p:nvSpPr>
        <p:spPr>
          <a:xfrm>
            <a:off x="7132320" y="4754880"/>
            <a:ext cx="4297680" cy="320040"/>
          </a:xfrm>
          <a:prstGeom prst="rect">
            <a:avLst/>
          </a:prstGeom>
          <a:noFill/>
          <a:ln/>
        </p:spPr>
        <p:txBody>
          <a:bodyPr wrap="square" rtlCol="0" anchor="ctr"/>
          <a:lstStyle/>
          <a:p>
            <a:pPr indent="0" marL="0">
              <a:buNone/>
            </a:pPr>
            <a:r>
              <a:rPr lang="en-US" sz="1150" b="1" dirty="0">
                <a:solidFill>
                  <a:srgbClr val="8B5CF6"/>
                </a:solidFill>
                <a:latin typeface="Segoe UI" pitchFamily="34" charset="0"/>
                <a:ea typeface="Segoe UI" pitchFamily="34" charset="-122"/>
                <a:cs typeface="Segoe UI" pitchFamily="34" charset="-120"/>
              </a:rPr>
              <a:t>DATABASE &amp; AI ENGINE</a:t>
            </a:r>
            <a:endParaRPr lang="en-US" sz="1150" dirty="0"/>
          </a:p>
        </p:txBody>
      </p:sp>
      <p:sp>
        <p:nvSpPr>
          <p:cNvPr id="24" name="Text 21"/>
          <p:cNvSpPr/>
          <p:nvPr/>
        </p:nvSpPr>
        <p:spPr>
          <a:xfrm>
            <a:off x="7132320" y="5120640"/>
            <a:ext cx="4297680" cy="1097280"/>
          </a:xfrm>
          <a:prstGeom prst="rect">
            <a:avLst/>
          </a:prstGeom>
          <a:noFill/>
          <a:ln/>
        </p:spPr>
        <p:txBody>
          <a:bodyPr wrap="square" rtlCol="0" anchor="ctr"/>
          <a:lstStyle/>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MS SQL Server 2014+ — Chuẩn hóa 3NF, Non-clustered Indexes</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Tesseract.js Engine — AI OCR nhận diện biển số trực tiếp qua WebCam</a:t>
            </a:r>
            <a:endParaRPr lang="en-US" sz="1000" dirty="0"/>
          </a:p>
          <a:p>
            <a:pPr indent="0" marL="0">
              <a:lnSpc>
                <a:spcPts val="1500"/>
              </a:lnSpc>
              <a:buNone/>
            </a:pPr>
            <a:r>
              <a:rPr lang="en-US" sz="1000" dirty="0">
                <a:solidFill>
                  <a:srgbClr val="E2E8F0"/>
                </a:solidFill>
                <a:latin typeface="Segoe UI" pitchFamily="34" charset="0"/>
                <a:ea typeface="Segoe UI" pitchFamily="34" charset="-122"/>
                <a:cs typeface="Segoe UI" pitchFamily="34" charset="-120"/>
              </a:rPr>
              <a:t>• Google Generative AI (LLM) — Trợ lý ảo tư vấn bảo dưỡng thông minh</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04. CƠ SỞ DỮ LIỆU</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MÔ HÌNH THỰC THỂ LIÊN KẾT (ERD) &amp; CƠ SỞ DỮ LIỆU</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11 bảng dữ liệu quan hệ toàn vẹn, tối ưu hóa Index truy vấn và bảo đảm tính toàn vẹn Transaction</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5/16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3_3_mo_hinh_erd.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SƠ ĐỒ CƠ SỞ DỮ LIỆU QUAN HỆ 11 BẢNG (MS SQL SERVER)</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250" b="1" dirty="0">
                <a:solidFill>
                  <a:srgbClr val="38BDF8"/>
                </a:solidFill>
                <a:latin typeface="Segoe UI" pitchFamily="34" charset="0"/>
                <a:ea typeface="Segoe UI" pitchFamily="34" charset="-122"/>
                <a:cs typeface="Segoe UI" pitchFamily="34" charset="-120"/>
              </a:rPr>
              <a:t>CẤU TRÚC 11 THỰC THỂ CỐT LÕI</a:t>
            </a:r>
            <a:endParaRPr lang="en-US" sz="1250" dirty="0"/>
          </a:p>
        </p:txBody>
      </p:sp>
      <p:sp>
        <p:nvSpPr>
          <p:cNvPr id="18" name="Text 15"/>
          <p:cNvSpPr/>
          <p:nvPr/>
        </p:nvSpPr>
        <p:spPr>
          <a:xfrm>
            <a:off x="7498080" y="160020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Users: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Định danh, mật khẩu BCrypt, Role (User, Garage, Admin)
</a:t>
            </a:r>
            <a:endParaRPr lang="en-US" sz="1000" dirty="0"/>
          </a:p>
        </p:txBody>
      </p:sp>
      <p:sp>
        <p:nvSpPr>
          <p:cNvPr id="19" name="Text 16"/>
          <p:cNvSpPr/>
          <p:nvPr/>
        </p:nvSpPr>
        <p:spPr>
          <a:xfrm>
            <a:off x="7498080" y="201168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Vehicles: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Ô tô/xe máy, Odometer, Biển số Unique, Xe dịch vụ (HTX)
</a:t>
            </a:r>
            <a:endParaRPr lang="en-US" sz="1000" dirty="0"/>
          </a:p>
        </p:txBody>
      </p:sp>
      <p:sp>
        <p:nvSpPr>
          <p:cNvPr id="20" name="Text 17"/>
          <p:cNvSpPr/>
          <p:nvPr/>
        </p:nvSpPr>
        <p:spPr>
          <a:xfrm>
            <a:off x="7498080" y="242316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LegalDocuments: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Sổ Đăng kiểm, Bảo hiểm TNDS, Bằng lái (3 cấp độ màu)
</a:t>
            </a:r>
            <a:endParaRPr lang="en-US" sz="1000" dirty="0"/>
          </a:p>
        </p:txBody>
      </p:sp>
      <p:sp>
        <p:nvSpPr>
          <p:cNvPr id="21" name="Text 18"/>
          <p:cNvSpPr/>
          <p:nvPr/>
        </p:nvSpPr>
        <p:spPr>
          <a:xfrm>
            <a:off x="7498080" y="283464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MaintenanceCategories: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Ma trận gói mốc kilomet chuẩn (5k, 10k, 20k, 40k...)
</a:t>
            </a:r>
            <a:endParaRPr lang="en-US" sz="1000" dirty="0"/>
          </a:p>
        </p:txBody>
      </p:sp>
      <p:sp>
        <p:nvSpPr>
          <p:cNvPr id="22" name="Text 19"/>
          <p:cNvSpPr/>
          <p:nvPr/>
        </p:nvSpPr>
        <p:spPr>
          <a:xfrm>
            <a:off x="7498080" y="324612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MaintenanceSchedules: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Lịch nhắc bảo dưỡng theo km hoặc thời gian thực tế
</a:t>
            </a:r>
            <a:endParaRPr lang="en-US" sz="1000" dirty="0"/>
          </a:p>
        </p:txBody>
      </p:sp>
      <p:sp>
        <p:nvSpPr>
          <p:cNvPr id="23" name="Text 20"/>
          <p:cNvSpPr/>
          <p:nvPr/>
        </p:nvSpPr>
        <p:spPr>
          <a:xfrm>
            <a:off x="7498080" y="365760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MaintenanceHistory: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Sổ nhật ký điện tử ghi vết vật tư thay thế &amp; chi phí
</a:t>
            </a:r>
            <a:endParaRPr lang="en-US" sz="1000" dirty="0"/>
          </a:p>
        </p:txBody>
      </p:sp>
      <p:sp>
        <p:nvSpPr>
          <p:cNvPr id="24" name="Text 21"/>
          <p:cNvSpPr/>
          <p:nvPr/>
        </p:nvSpPr>
        <p:spPr>
          <a:xfrm>
            <a:off x="7498080" y="406908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Garages &amp; Appointments: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Mạng lưới xưởng dịch vụ &amp; Đặt lịch hẹn trực tuyến
</a:t>
            </a:r>
            <a:endParaRPr lang="en-US" sz="1000" dirty="0"/>
          </a:p>
        </p:txBody>
      </p:sp>
      <p:sp>
        <p:nvSpPr>
          <p:cNvPr id="25" name="Text 22"/>
          <p:cNvSpPr/>
          <p:nvPr/>
        </p:nvSpPr>
        <p:spPr>
          <a:xfrm>
            <a:off x="7498080" y="4480560"/>
            <a:ext cx="3931920" cy="411480"/>
          </a:xfrm>
          <a:prstGeom prst="rect">
            <a:avLst/>
          </a:prstGeom>
          <a:noFill/>
          <a:ln/>
        </p:spPr>
        <p:txBody>
          <a:bodyPr wrap="square" rtlCol="0" anchor="ctr"/>
          <a:lstStyle/>
          <a:p>
            <a:pPr indent="0" marL="0">
              <a:lnSpc>
                <a:spcPts val="1300"/>
              </a:lnSpc>
              <a:buNone/>
            </a:pPr>
            <a:r>
              <a:rPr lang="en-US" sz="1000" b="1" dirty="0">
                <a:solidFill>
                  <a:srgbClr val="FBBF24"/>
                </a:solidFill>
                <a:latin typeface="Segoe UI" pitchFamily="34" charset="0"/>
                <a:ea typeface="Segoe UI" pitchFamily="34" charset="-122"/>
                <a:cs typeface="Segoe UI" pitchFamily="34" charset="-120"/>
              </a:rPr>
              <a:t>● Notifications &amp; Payments: </a:t>
            </a:r>
            <a:pPr indent="0" marL="0">
              <a:lnSpc>
                <a:spcPts val="1300"/>
              </a:lnSpc>
              <a:buNone/>
            </a:pPr>
            <a:r>
              <a:rPr lang="en-US" sz="950" dirty="0">
                <a:solidFill>
                  <a:srgbClr val="E2E8F0"/>
                </a:solidFill>
                <a:latin typeface="Segoe UI" pitchFamily="34" charset="0"/>
                <a:ea typeface="Segoe UI" pitchFamily="34" charset="-122"/>
                <a:cs typeface="Segoe UI" pitchFamily="34" charset="-120"/>
              </a:rPr>
              <a:t>Lưu trữ thông báo đẩy đa kênh &amp; Giao dịch thanh toán
</a:t>
            </a:r>
            <a:endParaRPr lang="en-US" sz="1000" dirty="0"/>
          </a:p>
        </p:txBody>
      </p:sp>
      <p:sp>
        <p:nvSpPr>
          <p:cNvPr id="26" name="Shape 23"/>
          <p:cNvSpPr/>
          <p:nvPr/>
        </p:nvSpPr>
        <p:spPr>
          <a:xfrm>
            <a:off x="7498080" y="5074920"/>
            <a:ext cx="3959352" cy="1051560"/>
          </a:xfrm>
          <a:prstGeom prst="roundRect">
            <a:avLst/>
          </a:prstGeom>
          <a:solidFill>
            <a:srgbClr val="172554"/>
          </a:solidFill>
          <a:ln w="12700">
            <a:solidFill>
              <a:srgbClr val="38BDF8"/>
            </a:solidFill>
            <a:prstDash val="solid"/>
          </a:ln>
        </p:spPr>
      </p:sp>
      <p:sp>
        <p:nvSpPr>
          <p:cNvPr id="27" name="Text 24"/>
          <p:cNvSpPr/>
          <p:nvPr/>
        </p:nvSpPr>
        <p:spPr>
          <a:xfrm>
            <a:off x="7589520" y="5120640"/>
            <a:ext cx="3776472" cy="960120"/>
          </a:xfrm>
          <a:prstGeom prst="rect">
            <a:avLst/>
          </a:prstGeom>
          <a:noFill/>
          <a:ln/>
        </p:spPr>
        <p:txBody>
          <a:bodyPr wrap="square" rtlCol="0" anchor="ctr"/>
          <a:lstStyle/>
          <a:p>
            <a:pPr indent="0" marL="0">
              <a:lnSpc>
                <a:spcPts val="1400"/>
              </a:lnSpc>
              <a:buNone/>
            </a:pPr>
            <a:r>
              <a:rPr lang="en-US" sz="950" dirty="0">
                <a:solidFill>
                  <a:srgbClr val="FFFFFF"/>
                </a:solidFill>
                <a:latin typeface="Segoe UI" pitchFamily="34" charset="0"/>
                <a:ea typeface="Segoe UI" pitchFamily="34" charset="-122"/>
                <a:cs typeface="Segoe UI" pitchFamily="34" charset="-120"/>
              </a:rPr>
              <a:t>⚡ TÍNH TOÀN VẸN TRANSACTION (ACID):</a:t>
            </a:r>
            <a:endParaRPr lang="en-US" sz="950" dirty="0"/>
          </a:p>
          <a:p>
            <a:pPr indent="0" marL="0">
              <a:lnSpc>
                <a:spcPts val="1400"/>
              </a:lnSpc>
              <a:buNone/>
            </a:pPr>
            <a:r>
              <a:rPr lang="en-US" sz="950" dirty="0">
                <a:solidFill>
                  <a:srgbClr val="FFFFFF"/>
                </a:solidFill>
                <a:latin typeface="Segoe UI" pitchFamily="34" charset="0"/>
                <a:ea typeface="Segoe UI" pitchFamily="34" charset="-122"/>
                <a:cs typeface="Segoe UI" pitchFamily="34" charset="-120"/>
              </a:rPr>
              <a:t>Khi hoàn tất đơn bảo dưỡng: Tự động cập nhật Odometer xe, ghi Sổ lịch sử, đóng Lịch nhắc và phát thông báo Real-time đồng thời.</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05. PHÂN HỆ PHƯƠNG TIỆN</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QUẢN LÝ PHƯƠNG TIỆN ĐA DẠNG &amp; XE CHẠY DỊCH VỤ</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Quản lý tập trung ô tô, xe máy và phân hệ quản lý chuyên biệt cho xe chạy dịch vụ (Grab, Taxi, HTX)</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6/16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4_2_quan_ly_phuong_tien.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GIAO DIỆN QUẢN LÝ PHƯƠNG TIỆN &amp; CẬP NHẬT NHANH ODOMETER</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TÍNH NĂNG NGHIỆP VỤ NỔI BẬT</a:t>
            </a:r>
            <a:endParaRPr lang="en-US" sz="1300" dirty="0"/>
          </a:p>
        </p:txBody>
      </p:sp>
      <p:sp>
        <p:nvSpPr>
          <p:cNvPr id="18" name="Text 15"/>
          <p:cNvSpPr/>
          <p:nvPr/>
        </p:nvSpPr>
        <p:spPr>
          <a:xfrm>
            <a:off x="7498080" y="1645920"/>
            <a:ext cx="3931920" cy="274320"/>
          </a:xfrm>
          <a:prstGeom prst="rect">
            <a:avLst/>
          </a:prstGeom>
          <a:noFill/>
          <a:ln/>
        </p:spPr>
        <p:txBody>
          <a:bodyPr wrap="square" rtlCol="0" anchor="ctr"/>
          <a:lstStyle/>
          <a:p>
            <a:pPr indent="0" marL="0">
              <a:buNone/>
            </a:pPr>
            <a:r>
              <a:rPr lang="en-US" sz="1100" b="1" dirty="0">
                <a:solidFill>
                  <a:srgbClr val="FBBF24"/>
                </a:solidFill>
                <a:latin typeface="Segoe UI" pitchFamily="34" charset="0"/>
                <a:ea typeface="Segoe UI" pitchFamily="34" charset="-122"/>
                <a:cs typeface="Segoe UI" pitchFamily="34" charset="-120"/>
              </a:rPr>
              <a:t>1. Quản lý đa phương tiện</a:t>
            </a:r>
            <a:endParaRPr lang="en-US" sz="1100" dirty="0"/>
          </a:p>
        </p:txBody>
      </p:sp>
      <p:sp>
        <p:nvSpPr>
          <p:cNvPr id="19" name="Text 16"/>
          <p:cNvSpPr/>
          <p:nvPr/>
        </p:nvSpPr>
        <p:spPr>
          <a:xfrm>
            <a:off x="7498080" y="1920240"/>
            <a:ext cx="3931920" cy="640080"/>
          </a:xfrm>
          <a:prstGeom prst="rect">
            <a:avLst/>
          </a:prstGeom>
          <a:noFill/>
          <a:ln/>
        </p:spPr>
        <p:txBody>
          <a:bodyPr wrap="square" rtlCol="0" anchor="ctr"/>
          <a:lstStyle/>
          <a:p>
            <a:pPr indent="0" marL="0">
              <a:lnSpc>
                <a:spcPts val="1400"/>
              </a:lnSpc>
              <a:buNone/>
            </a:pPr>
            <a:r>
              <a:rPr lang="en-US" sz="1000" dirty="0">
                <a:solidFill>
                  <a:srgbClr val="E2E8F0"/>
                </a:solidFill>
                <a:latin typeface="Segoe UI" pitchFamily="34" charset="0"/>
                <a:ea typeface="Segoe UI" pitchFamily="34" charset="-122"/>
                <a:cs typeface="Segoe UI" pitchFamily="34" charset="-120"/>
              </a:rPr>
              <a:t>Quản lý không giới hạn số lượng Ô tô và Xe máy trên một tài khoản. Ràng buộc Unique Biển số xe toàn hệ thống.</a:t>
            </a:r>
            <a:endParaRPr lang="en-US" sz="1000" dirty="0"/>
          </a:p>
        </p:txBody>
      </p:sp>
      <p:sp>
        <p:nvSpPr>
          <p:cNvPr id="20" name="Text 17"/>
          <p:cNvSpPr/>
          <p:nvPr/>
        </p:nvSpPr>
        <p:spPr>
          <a:xfrm>
            <a:off x="7498080" y="2606040"/>
            <a:ext cx="3931920" cy="274320"/>
          </a:xfrm>
          <a:prstGeom prst="rect">
            <a:avLst/>
          </a:prstGeom>
          <a:noFill/>
          <a:ln/>
        </p:spPr>
        <p:txBody>
          <a:bodyPr wrap="square" rtlCol="0" anchor="ctr"/>
          <a:lstStyle/>
          <a:p>
            <a:pPr indent="0" marL="0">
              <a:buNone/>
            </a:pPr>
            <a:r>
              <a:rPr lang="en-US" sz="1100" b="1" dirty="0">
                <a:solidFill>
                  <a:srgbClr val="FBBF24"/>
                </a:solidFill>
                <a:latin typeface="Segoe UI" pitchFamily="34" charset="0"/>
                <a:ea typeface="Segoe UI" pitchFamily="34" charset="-122"/>
                <a:cs typeface="Segoe UI" pitchFamily="34" charset="-120"/>
              </a:rPr>
              <a:t>2. Phân hệ Xe chạy Dịch vụ (Fleet)</a:t>
            </a:r>
            <a:endParaRPr lang="en-US" sz="1100" dirty="0"/>
          </a:p>
        </p:txBody>
      </p:sp>
      <p:sp>
        <p:nvSpPr>
          <p:cNvPr id="21" name="Text 18"/>
          <p:cNvSpPr/>
          <p:nvPr/>
        </p:nvSpPr>
        <p:spPr>
          <a:xfrm>
            <a:off x="7498080" y="2880360"/>
            <a:ext cx="3931920" cy="640080"/>
          </a:xfrm>
          <a:prstGeom prst="rect">
            <a:avLst/>
          </a:prstGeom>
          <a:noFill/>
          <a:ln/>
        </p:spPr>
        <p:txBody>
          <a:bodyPr wrap="square" rtlCol="0" anchor="ctr"/>
          <a:lstStyle/>
          <a:p>
            <a:pPr indent="0" marL="0">
              <a:lnSpc>
                <a:spcPts val="1400"/>
              </a:lnSpc>
              <a:buNone/>
            </a:pPr>
            <a:r>
              <a:rPr lang="en-US" sz="1000" dirty="0">
                <a:solidFill>
                  <a:srgbClr val="E2E8F0"/>
                </a:solidFill>
                <a:latin typeface="Segoe UI" pitchFamily="34" charset="0"/>
                <a:ea typeface="Segoe UI" pitchFamily="34" charset="-122"/>
                <a:cs typeface="Segoe UI" pitchFamily="34" charset="-120"/>
              </a:rPr>
              <a:t>Bổ sung quản lý Mã Hợp tác xã (HTX) và Số Phù hiệu xe cho tài xế công nghệ (Grab, Be, Taxi) theo luật GTVT Việt Nam.</a:t>
            </a:r>
            <a:endParaRPr lang="en-US" sz="1000" dirty="0"/>
          </a:p>
        </p:txBody>
      </p:sp>
      <p:sp>
        <p:nvSpPr>
          <p:cNvPr id="22" name="Text 19"/>
          <p:cNvSpPr/>
          <p:nvPr/>
        </p:nvSpPr>
        <p:spPr>
          <a:xfrm>
            <a:off x="7498080" y="3566160"/>
            <a:ext cx="3931920" cy="274320"/>
          </a:xfrm>
          <a:prstGeom prst="rect">
            <a:avLst/>
          </a:prstGeom>
          <a:noFill/>
          <a:ln/>
        </p:spPr>
        <p:txBody>
          <a:bodyPr wrap="square" rtlCol="0" anchor="ctr"/>
          <a:lstStyle/>
          <a:p>
            <a:pPr indent="0" marL="0">
              <a:buNone/>
            </a:pPr>
            <a:r>
              <a:rPr lang="en-US" sz="1100" b="1" dirty="0">
                <a:solidFill>
                  <a:srgbClr val="FBBF24"/>
                </a:solidFill>
                <a:latin typeface="Segoe UI" pitchFamily="34" charset="0"/>
                <a:ea typeface="Segoe UI" pitchFamily="34" charset="-122"/>
                <a:cs typeface="Segoe UI" pitchFamily="34" charset="-120"/>
              </a:rPr>
              <a:t>3. Cập nhật nhanh Odometer</a:t>
            </a:r>
            <a:endParaRPr lang="en-US" sz="1100" dirty="0"/>
          </a:p>
        </p:txBody>
      </p:sp>
      <p:sp>
        <p:nvSpPr>
          <p:cNvPr id="23" name="Text 20"/>
          <p:cNvSpPr/>
          <p:nvPr/>
        </p:nvSpPr>
        <p:spPr>
          <a:xfrm>
            <a:off x="7498080" y="3840480"/>
            <a:ext cx="3931920" cy="640080"/>
          </a:xfrm>
          <a:prstGeom prst="rect">
            <a:avLst/>
          </a:prstGeom>
          <a:noFill/>
          <a:ln/>
        </p:spPr>
        <p:txBody>
          <a:bodyPr wrap="square" rtlCol="0" anchor="ctr"/>
          <a:lstStyle/>
          <a:p>
            <a:pPr indent="0" marL="0">
              <a:lnSpc>
                <a:spcPts val="1400"/>
              </a:lnSpc>
              <a:buNone/>
            </a:pPr>
            <a:r>
              <a:rPr lang="en-US" sz="1000" dirty="0">
                <a:solidFill>
                  <a:srgbClr val="E2E8F0"/>
                </a:solidFill>
                <a:latin typeface="Segoe UI" pitchFamily="34" charset="0"/>
                <a:ea typeface="Segoe UI" pitchFamily="34" charset="-122"/>
                <a:cs typeface="Segoe UI" pitchFamily="34" charset="-120"/>
              </a:rPr>
              <a:t>Popup cập nhật kilomet hàng ngày/tuần. Validation logic chặt chẽ: Chặn tuyệt đối nhập số Odometer mới &lt; số Odometer cũ.</a:t>
            </a:r>
            <a:endParaRPr lang="en-US" sz="1000" dirty="0"/>
          </a:p>
        </p:txBody>
      </p:sp>
      <p:sp>
        <p:nvSpPr>
          <p:cNvPr id="24" name="Text 21"/>
          <p:cNvSpPr/>
          <p:nvPr/>
        </p:nvSpPr>
        <p:spPr>
          <a:xfrm>
            <a:off x="7498080" y="4526280"/>
            <a:ext cx="3931920" cy="274320"/>
          </a:xfrm>
          <a:prstGeom prst="rect">
            <a:avLst/>
          </a:prstGeom>
          <a:noFill/>
          <a:ln/>
        </p:spPr>
        <p:txBody>
          <a:bodyPr wrap="square" rtlCol="0" anchor="ctr"/>
          <a:lstStyle/>
          <a:p>
            <a:pPr indent="0" marL="0">
              <a:buNone/>
            </a:pPr>
            <a:r>
              <a:rPr lang="en-US" sz="1100" b="1" dirty="0">
                <a:solidFill>
                  <a:srgbClr val="FBBF24"/>
                </a:solidFill>
                <a:latin typeface="Segoe UI" pitchFamily="34" charset="0"/>
                <a:ea typeface="Segoe UI" pitchFamily="34" charset="-122"/>
                <a:cs typeface="Segoe UI" pitchFamily="34" charset="-120"/>
              </a:rPr>
              <a:t>4. Tự động sinh Lịch bảo dưỡng mẫu</a:t>
            </a:r>
            <a:endParaRPr lang="en-US" sz="1100" dirty="0"/>
          </a:p>
        </p:txBody>
      </p:sp>
      <p:sp>
        <p:nvSpPr>
          <p:cNvPr id="25" name="Text 22"/>
          <p:cNvSpPr/>
          <p:nvPr/>
        </p:nvSpPr>
        <p:spPr>
          <a:xfrm>
            <a:off x="7498080" y="4800600"/>
            <a:ext cx="3931920" cy="640080"/>
          </a:xfrm>
          <a:prstGeom prst="rect">
            <a:avLst/>
          </a:prstGeom>
          <a:noFill/>
          <a:ln/>
        </p:spPr>
        <p:txBody>
          <a:bodyPr wrap="square" rtlCol="0" anchor="ctr"/>
          <a:lstStyle/>
          <a:p>
            <a:pPr indent="0" marL="0">
              <a:lnSpc>
                <a:spcPts val="1400"/>
              </a:lnSpc>
              <a:buNone/>
            </a:pPr>
            <a:r>
              <a:rPr lang="en-US" sz="1000" dirty="0">
                <a:solidFill>
                  <a:srgbClr val="E2E8F0"/>
                </a:solidFill>
                <a:latin typeface="Segoe UI" pitchFamily="34" charset="0"/>
                <a:ea typeface="Segoe UI" pitchFamily="34" charset="-122"/>
                <a:cs typeface="Segoe UI" pitchFamily="34" charset="-120"/>
              </a:rPr>
              <a:t>Khi tạo xe mới, hệ thống tự động sinh trọn bộ lịch nhắc bảo dưỡng tiêu chuẩn (+5.000km, +10.000km, +40.000km).</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06. HỒ SƠ PHÁP LÝ</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HỒ SƠ PHÁP LÝ, CHU KỲ ĐĂNG KIỂM &amp; BẢO HIỂM</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Cơ chế động cơ tính toán ngày đếm ngược và phân loại màu sắc cảnh báo an toàn 3 cấp độ</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7/16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4_3_ho_so_phap_ly_dang_kiem.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DANH SÁCH GIẤY TỜ &amp; CHU KỲ ĐĂNG KIỂM THEO THỜI GIAN THỰC</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CƠ CHẾ CẢNH BÁO 3 CẤP ĐỘ</a:t>
            </a:r>
            <a:endParaRPr lang="en-US" sz="1300" dirty="0"/>
          </a:p>
        </p:txBody>
      </p:sp>
      <p:sp>
        <p:nvSpPr>
          <p:cNvPr id="18" name="Shape 15"/>
          <p:cNvSpPr/>
          <p:nvPr/>
        </p:nvSpPr>
        <p:spPr>
          <a:xfrm>
            <a:off x="7498080" y="1691640"/>
            <a:ext cx="3959352" cy="292608"/>
          </a:xfrm>
          <a:prstGeom prst="roundRect">
            <a:avLst/>
          </a:prstGeom>
          <a:solidFill>
            <a:srgbClr val="0F172A"/>
          </a:solidFill>
          <a:ln w="12700">
            <a:solidFill>
              <a:srgbClr val="10B981"/>
            </a:solidFill>
            <a:prstDash val="solid"/>
          </a:ln>
        </p:spPr>
      </p:sp>
      <p:sp>
        <p:nvSpPr>
          <p:cNvPr id="19" name="Text 16"/>
          <p:cNvSpPr/>
          <p:nvPr/>
        </p:nvSpPr>
        <p:spPr>
          <a:xfrm>
            <a:off x="7498080" y="1691640"/>
            <a:ext cx="3959352" cy="292608"/>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 MÃ MÀU XANH — CÒN HẠN AN TOÀN</a:t>
            </a:r>
            <a:endParaRPr lang="en-US" sz="900" dirty="0"/>
          </a:p>
        </p:txBody>
      </p:sp>
      <p:sp>
        <p:nvSpPr>
          <p:cNvPr id="20" name="Text 17"/>
          <p:cNvSpPr/>
          <p:nvPr/>
        </p:nvSpPr>
        <p:spPr>
          <a:xfrm>
            <a:off x="7498080" y="2039112"/>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Thời gian hiệu lực còn &gt; 30 ngày. Phương tiện đủ điều kiện lưu thông hợp pháp trên đường.</a:t>
            </a:r>
            <a:endParaRPr lang="en-US" sz="950" dirty="0"/>
          </a:p>
        </p:txBody>
      </p:sp>
      <p:sp>
        <p:nvSpPr>
          <p:cNvPr id="21" name="Shape 18"/>
          <p:cNvSpPr/>
          <p:nvPr/>
        </p:nvSpPr>
        <p:spPr>
          <a:xfrm>
            <a:off x="7498080" y="2743200"/>
            <a:ext cx="3959352" cy="292608"/>
          </a:xfrm>
          <a:prstGeom prst="roundRect">
            <a:avLst/>
          </a:prstGeom>
          <a:solidFill>
            <a:srgbClr val="0F172A"/>
          </a:solidFill>
          <a:ln w="12700">
            <a:solidFill>
              <a:srgbClr val="F59E0B"/>
            </a:solidFill>
            <a:prstDash val="solid"/>
          </a:ln>
        </p:spPr>
      </p:sp>
      <p:sp>
        <p:nvSpPr>
          <p:cNvPr id="22" name="Text 19"/>
          <p:cNvSpPr/>
          <p:nvPr/>
        </p:nvSpPr>
        <p:spPr>
          <a:xfrm>
            <a:off x="7498080" y="2743200"/>
            <a:ext cx="3959352" cy="292608"/>
          </a:xfrm>
          <a:prstGeom prst="rect">
            <a:avLst/>
          </a:prstGeom>
          <a:noFill/>
          <a:ln/>
        </p:spPr>
        <p:txBody>
          <a:bodyPr wrap="square" rtlCol="0" anchor="ctr"/>
          <a:lstStyle/>
          <a:p>
            <a:pPr algn="ctr" indent="0" marL="0">
              <a:buNone/>
            </a:pPr>
            <a:r>
              <a:rPr lang="en-US" sz="900" b="1" dirty="0">
                <a:solidFill>
                  <a:srgbClr val="F59E0B"/>
                </a:solidFill>
                <a:latin typeface="Segoe UI" pitchFamily="34" charset="0"/>
                <a:ea typeface="Segoe UI" pitchFamily="34" charset="-122"/>
                <a:cs typeface="Segoe UI" pitchFamily="34" charset="-120"/>
              </a:rPr>
              <a:t>🟠 MÃ MÀU CAM — CẢNH BÁO SẮP HẾT HẠN</a:t>
            </a:r>
            <a:endParaRPr lang="en-US" sz="900" dirty="0"/>
          </a:p>
        </p:txBody>
      </p:sp>
      <p:sp>
        <p:nvSpPr>
          <p:cNvPr id="23" name="Text 20"/>
          <p:cNvSpPr/>
          <p:nvPr/>
        </p:nvSpPr>
        <p:spPr>
          <a:xfrm>
            <a:off x="7498080" y="3090672"/>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Thời gian hiệu lực còn &lt;= 30 ngày. Hệ thống bắt đầu kích hoạt cảnh báo nhắc nhở chủ xe chuẩn bị gia hạn.</a:t>
            </a:r>
            <a:endParaRPr lang="en-US" sz="950" dirty="0"/>
          </a:p>
        </p:txBody>
      </p:sp>
      <p:sp>
        <p:nvSpPr>
          <p:cNvPr id="24" name="Shape 21"/>
          <p:cNvSpPr/>
          <p:nvPr/>
        </p:nvSpPr>
        <p:spPr>
          <a:xfrm>
            <a:off x="7498080" y="3794760"/>
            <a:ext cx="3959352" cy="292608"/>
          </a:xfrm>
          <a:prstGeom prst="roundRect">
            <a:avLst/>
          </a:prstGeom>
          <a:solidFill>
            <a:srgbClr val="0F172A"/>
          </a:solidFill>
          <a:ln w="12700">
            <a:solidFill>
              <a:srgbClr val="EF4444"/>
            </a:solidFill>
            <a:prstDash val="solid"/>
          </a:ln>
        </p:spPr>
      </p:sp>
      <p:sp>
        <p:nvSpPr>
          <p:cNvPr id="25" name="Text 22"/>
          <p:cNvSpPr/>
          <p:nvPr/>
        </p:nvSpPr>
        <p:spPr>
          <a:xfrm>
            <a:off x="7498080" y="3794760"/>
            <a:ext cx="3959352" cy="292608"/>
          </a:xfrm>
          <a:prstGeom prst="rect">
            <a:avLst/>
          </a:prstGeom>
          <a:noFill/>
          <a:ln/>
        </p:spPr>
        <p:txBody>
          <a:bodyPr wrap="square" rtlCol="0" anchor="ctr"/>
          <a:lstStyle/>
          <a:p>
            <a:pPr algn="ctr" indent="0" marL="0">
              <a:buNone/>
            </a:pPr>
            <a:r>
              <a:rPr lang="en-US" sz="900" b="1" dirty="0">
                <a:solidFill>
                  <a:srgbClr val="EF4444"/>
                </a:solidFill>
                <a:latin typeface="Segoe UI" pitchFamily="34" charset="0"/>
                <a:ea typeface="Segoe UI" pitchFamily="34" charset="-122"/>
                <a:cs typeface="Segoe UI" pitchFamily="34" charset="-120"/>
              </a:rPr>
              <a:t>🔴 MÃ MÀU ĐỎ — NGUY CẤP: ĐÃ QUÁ HẠN</a:t>
            </a:r>
            <a:endParaRPr lang="en-US" sz="900" dirty="0"/>
          </a:p>
        </p:txBody>
      </p:sp>
      <p:sp>
        <p:nvSpPr>
          <p:cNvPr id="26" name="Text 23"/>
          <p:cNvSpPr/>
          <p:nvPr/>
        </p:nvSpPr>
        <p:spPr>
          <a:xfrm>
            <a:off x="7498080" y="4142232"/>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Thời gian hiệu lực &lt; 0 ngày (đã quá hạn). Báo động đỏ nguy cơ bị xử phạt vi phạm hành chính nặng.</a:t>
            </a:r>
            <a:endParaRPr lang="en-US" sz="950" dirty="0"/>
          </a:p>
        </p:txBody>
      </p:sp>
      <p:sp>
        <p:nvSpPr>
          <p:cNvPr id="27" name="Shape 24"/>
          <p:cNvSpPr/>
          <p:nvPr/>
        </p:nvSpPr>
        <p:spPr>
          <a:xfrm>
            <a:off x="7498080" y="4937760"/>
            <a:ext cx="3959352" cy="1188720"/>
          </a:xfrm>
          <a:prstGeom prst="roundRect">
            <a:avLst/>
          </a:prstGeom>
          <a:solidFill>
            <a:srgbClr val="172554"/>
          </a:solidFill>
          <a:ln w="12700">
            <a:solidFill>
              <a:srgbClr val="38BDF8"/>
            </a:solidFill>
            <a:prstDash val="solid"/>
          </a:ln>
        </p:spPr>
      </p:sp>
      <p:sp>
        <p:nvSpPr>
          <p:cNvPr id="28" name="Text 25"/>
          <p:cNvSpPr/>
          <p:nvPr/>
        </p:nvSpPr>
        <p:spPr>
          <a:xfrm>
            <a:off x="7589520" y="4983480"/>
            <a:ext cx="3776472" cy="1097280"/>
          </a:xfrm>
          <a:prstGeom prst="rect">
            <a:avLst/>
          </a:prstGeom>
          <a:noFill/>
          <a:ln/>
        </p:spPr>
        <p:txBody>
          <a:bodyPr wrap="square" rtlCol="0" anchor="ctr"/>
          <a:lstStyle/>
          <a:p>
            <a:pPr indent="0" marL="0">
              <a:lnSpc>
                <a:spcPts val="1400"/>
              </a:lnSpc>
              <a:buNone/>
            </a:pPr>
            <a:r>
              <a:rPr lang="en-US" sz="950" dirty="0">
                <a:solidFill>
                  <a:srgbClr val="FFFFFF"/>
                </a:solidFill>
                <a:latin typeface="Segoe UI" pitchFamily="34" charset="0"/>
                <a:ea typeface="Segoe UI" pitchFamily="34" charset="-122"/>
                <a:cs typeface="Segoe UI" pitchFamily="34" charset="-120"/>
              </a:rPr>
              <a:t>⚙ THUẬT TOÁN ĐẾM NGƯỢC THỜI GIAN THỰC:</a:t>
            </a:r>
            <a:endParaRPr lang="en-US" sz="950" dirty="0"/>
          </a:p>
          <a:p>
            <a:pPr indent="0" marL="0">
              <a:lnSpc>
                <a:spcPts val="1400"/>
              </a:lnSpc>
              <a:buNone/>
            </a:pPr>
            <a:r>
              <a:rPr lang="en-US" sz="950" dirty="0">
                <a:solidFill>
                  <a:srgbClr val="FFFFFF"/>
                </a:solidFill>
                <a:latin typeface="Segoe UI" pitchFamily="34" charset="0"/>
                <a:ea typeface="Segoe UI" pitchFamily="34" charset="-122"/>
                <a:cs typeface="Segoe UI" pitchFamily="34" charset="-120"/>
              </a:rPr>
              <a:t>Sử dụng hàm SQL DATEDIFF(day, GETDATE(), ExpiryDate) tính toán chính xác số ngày còn lại theo thời gian thực mỗi khi mở ứng dụng.</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07. BẢO DƯỠNG &amp; CẢNH BÁO</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MA TRẬN MỐC BẢO DƯỠNG &amp; ĐỘNG CƠ CRON JOB 00:00</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Chuẩn hóa quy trình kỹ thuật ô tô và tự động hóa khâu giám sát bằng tác vụ quét ngầm định kỳ</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8/16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4_4_ma_tran_bao_duong_gara.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MA TRẬN CÁC GÓI MỐC BẢO DƯỠNG KM &amp; TIẾN TRÌNH XE</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ĐẶC TẢ MA TRẬN &amp; CRON ENGINE</a:t>
            </a:r>
            <a:endParaRPr lang="en-US" sz="1300" dirty="0"/>
          </a:p>
        </p:txBody>
      </p:sp>
      <p:sp>
        <p:nvSpPr>
          <p:cNvPr id="18" name="Text 15"/>
          <p:cNvSpPr/>
          <p:nvPr/>
        </p:nvSpPr>
        <p:spPr>
          <a:xfrm>
            <a:off x="7498080" y="1645920"/>
            <a:ext cx="3931920" cy="274320"/>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Gói mốc Km chuẩn hóa:</a:t>
            </a:r>
            <a:endParaRPr lang="en-US" sz="1050" dirty="0"/>
          </a:p>
        </p:txBody>
      </p:sp>
      <p:sp>
        <p:nvSpPr>
          <p:cNvPr id="19" name="Text 16"/>
          <p:cNvSpPr/>
          <p:nvPr/>
        </p:nvSpPr>
        <p:spPr>
          <a:xfrm>
            <a:off x="7498080" y="1920240"/>
            <a:ext cx="3931920" cy="86868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 5.000 km: Thay dầu động cơ, vệ sinh lọc gió.</a:t>
            </a:r>
            <a:endParaRPr lang="en-US" sz="950" dirty="0"/>
          </a:p>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 10.000 km: Thay lọc dầu, đảo lốp, kiểm tra phanh.</a:t>
            </a:r>
            <a:endParaRPr lang="en-US" sz="950" dirty="0"/>
          </a:p>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 20.000 km: Thay lọc gió động cơ &amp; máy lạnh.</a:t>
            </a:r>
            <a:endParaRPr lang="en-US" sz="950" dirty="0"/>
          </a:p>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 40.000 km: Thay dầu số, bugi, nước làm mát.</a:t>
            </a:r>
            <a:endParaRPr lang="en-US" sz="950" dirty="0"/>
          </a:p>
        </p:txBody>
      </p:sp>
      <p:sp>
        <p:nvSpPr>
          <p:cNvPr id="20" name="Text 17"/>
          <p:cNvSpPr/>
          <p:nvPr/>
        </p:nvSpPr>
        <p:spPr>
          <a:xfrm>
            <a:off x="7498080" y="2834640"/>
            <a:ext cx="3931920" cy="274320"/>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Cron Job quét ngầm (@Cron 00:00):</a:t>
            </a:r>
            <a:endParaRPr lang="en-US" sz="1050" dirty="0"/>
          </a:p>
        </p:txBody>
      </p:sp>
      <p:sp>
        <p:nvSpPr>
          <p:cNvPr id="21" name="Text 18"/>
          <p:cNvSpPr/>
          <p:nvPr/>
        </p:nvSpPr>
        <p:spPr>
          <a:xfrm>
            <a:off x="7498080" y="3108960"/>
            <a:ext cx="3931920" cy="86868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Tự động rà soát hạn giấy tờ và mốc kilomet chênh lệch (TargetOdometer - CurrentOdometer &lt;= 500 km) mỗi đêm lúc 00:00.</a:t>
            </a:r>
            <a:endParaRPr lang="en-US" sz="950" dirty="0"/>
          </a:p>
        </p:txBody>
      </p:sp>
      <p:sp>
        <p:nvSpPr>
          <p:cNvPr id="22" name="Text 19"/>
          <p:cNvSpPr/>
          <p:nvPr/>
        </p:nvSpPr>
        <p:spPr>
          <a:xfrm>
            <a:off x="7498080" y="4023360"/>
            <a:ext cx="3931920" cy="274320"/>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Hạ tầng thông báo đa kênh:</a:t>
            </a:r>
            <a:endParaRPr lang="en-US" sz="1050" dirty="0"/>
          </a:p>
        </p:txBody>
      </p:sp>
      <p:sp>
        <p:nvSpPr>
          <p:cNvPr id="23" name="Text 20"/>
          <p:cNvSpPr/>
          <p:nvPr/>
        </p:nvSpPr>
        <p:spPr>
          <a:xfrm>
            <a:off x="7498080" y="4297680"/>
            <a:ext cx="3931920" cy="86868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Phát tín hiệu Real-time WebSockets lên màn hình kết hợp gửi Email HTML qua Nodemailer SMTP.</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08. QUY TRÌNH GARA 4 BƯỚC</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QUY TRÌNH VẬN HÀNH DỊCH VỤ BẢO DƯỠNG GARA 4 BƯỚC</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Số hóa toàn diện sự phối hợp giữa Khách hàng - Lễ tân - Kỹ thuật viên Gara</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9/16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4_5_dong_co_canh_bao_dat_lich.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QUY TRÌNH ĐẶT LỊCH HẸN TRỰC TUYẾN &amp; TIẾP NHẬN XƯỞNG</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4 BƯỚC DỊCH VỤ KHÉP KÍN</a:t>
            </a:r>
            <a:endParaRPr lang="en-US" sz="1300" dirty="0"/>
          </a:p>
        </p:txBody>
      </p:sp>
      <p:sp>
        <p:nvSpPr>
          <p:cNvPr id="18" name="Shape 15"/>
          <p:cNvSpPr/>
          <p:nvPr/>
        </p:nvSpPr>
        <p:spPr>
          <a:xfrm>
            <a:off x="7498080" y="1645920"/>
            <a:ext cx="3959352" cy="256032"/>
          </a:xfrm>
          <a:prstGeom prst="roundRect">
            <a:avLst/>
          </a:prstGeom>
          <a:solidFill>
            <a:srgbClr val="0F172A"/>
          </a:solidFill>
          <a:ln w="12700">
            <a:solidFill>
              <a:srgbClr val="0284C7"/>
            </a:solidFill>
            <a:prstDash val="solid"/>
          </a:ln>
        </p:spPr>
      </p:sp>
      <p:sp>
        <p:nvSpPr>
          <p:cNvPr id="19" name="Text 16"/>
          <p:cNvSpPr/>
          <p:nvPr/>
        </p:nvSpPr>
        <p:spPr>
          <a:xfrm>
            <a:off x="7498080" y="1645920"/>
            <a:ext cx="3959352" cy="256032"/>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BƯỚC 1: TIẾP NHẬN &amp; ĐỊNH DANH</a:t>
            </a:r>
            <a:endParaRPr lang="en-US" sz="900" dirty="0"/>
          </a:p>
        </p:txBody>
      </p:sp>
      <p:sp>
        <p:nvSpPr>
          <p:cNvPr id="20" name="Text 17"/>
          <p:cNvSpPr/>
          <p:nvPr/>
        </p:nvSpPr>
        <p:spPr>
          <a:xfrm>
            <a:off x="7498080" y="1938528"/>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Quét biển số xe bằng WebCam AI OCR, tự động truy xuất hồ sơ xe và lịch sử sửa chữa cũ.</a:t>
            </a:r>
            <a:endParaRPr lang="en-US" sz="950" dirty="0"/>
          </a:p>
        </p:txBody>
      </p:sp>
      <p:sp>
        <p:nvSpPr>
          <p:cNvPr id="21" name="Shape 18"/>
          <p:cNvSpPr/>
          <p:nvPr/>
        </p:nvSpPr>
        <p:spPr>
          <a:xfrm>
            <a:off x="7498080" y="2651760"/>
            <a:ext cx="3959352" cy="256032"/>
          </a:xfrm>
          <a:prstGeom prst="roundRect">
            <a:avLst/>
          </a:prstGeom>
          <a:solidFill>
            <a:srgbClr val="0F172A"/>
          </a:solidFill>
          <a:ln w="12700">
            <a:solidFill>
              <a:srgbClr val="10B981"/>
            </a:solidFill>
            <a:prstDash val="solid"/>
          </a:ln>
        </p:spPr>
      </p:sp>
      <p:sp>
        <p:nvSpPr>
          <p:cNvPr id="22" name="Text 19"/>
          <p:cNvSpPr/>
          <p:nvPr/>
        </p:nvSpPr>
        <p:spPr>
          <a:xfrm>
            <a:off x="7498080" y="2651760"/>
            <a:ext cx="3959352" cy="256032"/>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BƯỚC 2: KIỂM TRA &amp; LÊN PHƯƠNG ÁN</a:t>
            </a:r>
            <a:endParaRPr lang="en-US" sz="900" dirty="0"/>
          </a:p>
        </p:txBody>
      </p:sp>
      <p:sp>
        <p:nvSpPr>
          <p:cNvPr id="23" name="Text 20"/>
          <p:cNvSpPr/>
          <p:nvPr/>
        </p:nvSpPr>
        <p:spPr>
          <a:xfrm>
            <a:off x="7498080" y="2944368"/>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Kỹ thuật viên kiểm tra xe thực tế, tích chọn checklist mốc km (vật tư phụ tùng cần thay).</a:t>
            </a:r>
            <a:endParaRPr lang="en-US" sz="950" dirty="0"/>
          </a:p>
        </p:txBody>
      </p:sp>
      <p:sp>
        <p:nvSpPr>
          <p:cNvPr id="24" name="Shape 21"/>
          <p:cNvSpPr/>
          <p:nvPr/>
        </p:nvSpPr>
        <p:spPr>
          <a:xfrm>
            <a:off x="7498080" y="3657600"/>
            <a:ext cx="3959352" cy="256032"/>
          </a:xfrm>
          <a:prstGeom prst="roundRect">
            <a:avLst/>
          </a:prstGeom>
          <a:solidFill>
            <a:srgbClr val="0F172A"/>
          </a:solidFill>
          <a:ln w="12700">
            <a:solidFill>
              <a:srgbClr val="F59E0B"/>
            </a:solidFill>
            <a:prstDash val="solid"/>
          </a:ln>
        </p:spPr>
      </p:sp>
      <p:sp>
        <p:nvSpPr>
          <p:cNvPr id="25" name="Text 22"/>
          <p:cNvSpPr/>
          <p:nvPr/>
        </p:nvSpPr>
        <p:spPr>
          <a:xfrm>
            <a:off x="7498080" y="3657600"/>
            <a:ext cx="3959352" cy="256032"/>
          </a:xfrm>
          <a:prstGeom prst="rect">
            <a:avLst/>
          </a:prstGeom>
          <a:noFill/>
          <a:ln/>
        </p:spPr>
        <p:txBody>
          <a:bodyPr wrap="square" rtlCol="0" anchor="ctr"/>
          <a:lstStyle/>
          <a:p>
            <a:pPr algn="ctr" indent="0" marL="0">
              <a:buNone/>
            </a:pPr>
            <a:r>
              <a:rPr lang="en-US" sz="900" b="1" dirty="0">
                <a:solidFill>
                  <a:srgbClr val="F59E0B"/>
                </a:solidFill>
                <a:latin typeface="Segoe UI" pitchFamily="34" charset="0"/>
                <a:ea typeface="Segoe UI" pitchFamily="34" charset="-122"/>
                <a:cs typeface="Segoe UI" pitchFamily="34" charset="-120"/>
              </a:rPr>
              <a:t>BƯỚC 3: BÁO GIÁ &amp; XÁC NHẬN</a:t>
            </a:r>
            <a:endParaRPr lang="en-US" sz="900" dirty="0"/>
          </a:p>
        </p:txBody>
      </p:sp>
      <p:sp>
        <p:nvSpPr>
          <p:cNvPr id="26" name="Text 23"/>
          <p:cNvSpPr/>
          <p:nvPr/>
        </p:nvSpPr>
        <p:spPr>
          <a:xfrm>
            <a:off x="7498080" y="3950208"/>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Lập báo giá điện tử (phụ tùng + tiền công + VAT), khách hàng duyệt online trực tiếp trên app.</a:t>
            </a:r>
            <a:endParaRPr lang="en-US" sz="950" dirty="0"/>
          </a:p>
        </p:txBody>
      </p:sp>
      <p:sp>
        <p:nvSpPr>
          <p:cNvPr id="27" name="Shape 24"/>
          <p:cNvSpPr/>
          <p:nvPr/>
        </p:nvSpPr>
        <p:spPr>
          <a:xfrm>
            <a:off x="7498080" y="4663440"/>
            <a:ext cx="3959352" cy="256032"/>
          </a:xfrm>
          <a:prstGeom prst="roundRect">
            <a:avLst/>
          </a:prstGeom>
          <a:solidFill>
            <a:srgbClr val="0F172A"/>
          </a:solidFill>
          <a:ln w="12700">
            <a:solidFill>
              <a:srgbClr val="8B5CF6"/>
            </a:solidFill>
            <a:prstDash val="solid"/>
          </a:ln>
        </p:spPr>
      </p:sp>
      <p:sp>
        <p:nvSpPr>
          <p:cNvPr id="28" name="Text 25"/>
          <p:cNvSpPr/>
          <p:nvPr/>
        </p:nvSpPr>
        <p:spPr>
          <a:xfrm>
            <a:off x="7498080" y="4663440"/>
            <a:ext cx="3959352" cy="256032"/>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BƯỚC 4: THI CÔNG &amp; NGHIỆM THU</a:t>
            </a:r>
            <a:endParaRPr lang="en-US" sz="900" dirty="0"/>
          </a:p>
        </p:txBody>
      </p:sp>
      <p:sp>
        <p:nvSpPr>
          <p:cNvPr id="29" name="Text 26"/>
          <p:cNvSpPr/>
          <p:nvPr/>
        </p:nvSpPr>
        <p:spPr>
          <a:xfrm>
            <a:off x="7498080" y="4956048"/>
            <a:ext cx="3959352" cy="594360"/>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Thi công, nghiệm thu, xuất hóa đơn điện tử và tự động cập nhật Sổ nhật ký bảo dưỡng xe.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09. ĐỘT PHÁ AI OCR</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ĐỘT PHÁ CÔNG NGHỆ: AI OCR QUÉT BIỂN SỐ XE WEBCAM</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Ứng dụng Tesseract.js OCR &amp; Regex nhận diện biển số xe ô tô thực tế 100% không dùng mock data</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10/16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4_3_ai_ocr_so_dang_kiem.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LUỒNG NHẬN DIỆN BIỂN SỐ Ô TÔ THỰC TẾ QUA WEBCAM &amp; CAMERA</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CƠ CHẾ AI OCR THỰC TẾ</a:t>
            </a:r>
            <a:endParaRPr lang="en-US" sz="1300" dirty="0"/>
          </a:p>
        </p:txBody>
      </p:sp>
      <p:sp>
        <p:nvSpPr>
          <p:cNvPr id="18" name="Text 15"/>
          <p:cNvSpPr/>
          <p:nvPr/>
        </p:nvSpPr>
        <p:spPr>
          <a:xfrm>
            <a:off x="7498080" y="164592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Xử lý AI thực tế 100%:</a:t>
            </a:r>
            <a:endParaRPr lang="en-US" sz="1050" dirty="0"/>
          </a:p>
        </p:txBody>
      </p:sp>
      <p:sp>
        <p:nvSpPr>
          <p:cNvPr id="19" name="Text 16"/>
          <p:cNvSpPr/>
          <p:nvPr/>
        </p:nvSpPr>
        <p:spPr>
          <a:xfrm>
            <a:off x="7498080" y="190195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Tích hợp Tesseract.js engine bóc tách trực tiếp chuỗi ký tự từ luồng video WebCam hoặc tệp ảnh chụp thực tế.</a:t>
            </a:r>
            <a:endParaRPr lang="en-US" sz="950" dirty="0"/>
          </a:p>
        </p:txBody>
      </p:sp>
      <p:sp>
        <p:nvSpPr>
          <p:cNvPr id="20" name="Text 17"/>
          <p:cNvSpPr/>
          <p:nvPr/>
        </p:nvSpPr>
        <p:spPr>
          <a:xfrm>
            <a:off x="7498080" y="260604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Bộ lọc Regex biển số Việt Nam:</a:t>
            </a:r>
            <a:endParaRPr lang="en-US" sz="1050" dirty="0"/>
          </a:p>
        </p:txBody>
      </p:sp>
      <p:sp>
        <p:nvSpPr>
          <p:cNvPr id="21" name="Text 18"/>
          <p:cNvSpPr/>
          <p:nvPr/>
        </p:nvSpPr>
        <p:spPr>
          <a:xfrm>
            <a:off x="7498080" y="286207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Thuật toán Regular Expression chuẩn hóa định dạng biển 1 dòng và 2 dòng (VD: 30G-567.89, 51K-123.45).</a:t>
            </a:r>
            <a:endParaRPr lang="en-US" sz="950" dirty="0"/>
          </a:p>
        </p:txBody>
      </p:sp>
      <p:sp>
        <p:nvSpPr>
          <p:cNvPr id="22" name="Text 19"/>
          <p:cNvSpPr/>
          <p:nvPr/>
        </p:nvSpPr>
        <p:spPr>
          <a:xfrm>
            <a:off x="7498080" y="356616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Tiết kiệm 90% thời gian nhập liệu:</a:t>
            </a:r>
            <a:endParaRPr lang="en-US" sz="1050" dirty="0"/>
          </a:p>
        </p:txBody>
      </p:sp>
      <p:sp>
        <p:nvSpPr>
          <p:cNvPr id="23" name="Text 20"/>
          <p:cNvSpPr/>
          <p:nvPr/>
        </p:nvSpPr>
        <p:spPr>
          <a:xfrm>
            <a:off x="7498080" y="382219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Truy xuất ngay hồ sơ phương tiện trong CSDL chỉ sau 1 click, loại bỏ hoàn toàn sai sót chính tả do gõ tay.</a:t>
            </a:r>
            <a:endParaRPr lang="en-US" sz="950" dirty="0"/>
          </a:p>
        </p:txBody>
      </p:sp>
      <p:sp>
        <p:nvSpPr>
          <p:cNvPr id="24" name="Text 21"/>
          <p:cNvSpPr/>
          <p:nvPr/>
        </p:nvSpPr>
        <p:spPr>
          <a:xfrm>
            <a:off x="7498080" y="452628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Khung kết quả Editable:</a:t>
            </a:r>
            <a:endParaRPr lang="en-US" sz="1050" dirty="0"/>
          </a:p>
        </p:txBody>
      </p:sp>
      <p:sp>
        <p:nvSpPr>
          <p:cNvPr id="25" name="Text 22"/>
          <p:cNvSpPr/>
          <p:nvPr/>
        </p:nvSpPr>
        <p:spPr>
          <a:xfrm>
            <a:off x="7498080" y="478231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Cho phép nhân viên tiếp tân rà soát và hiệu chỉnh nhanh nếu ảnh chụp bị mờ hoặc góc chụp bị khuất sáng.</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10. AI CHATBOT &amp; DASHBOARD</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TRỢ LÝ ẢO AUTOCARE AI &amp; THỐNG KÊ DASHBOARD TRỰC QUAN</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Tích hợp LLM tư vấn kỹ thuật xe và hệ thống biểu đồ Recharts phân tích tài chính phương tiện</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11/16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4_6_ai_chatbot_analytics.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TRỢ LÝ ẢO AUTOCARE AI &amp; BIỂU ĐỒ RECHARTS THỐNG KÊ CHI TIÊU</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TÍNH NĂNG NỔI BẬT KHÁC</a:t>
            </a:r>
            <a:endParaRPr lang="en-US" sz="1300" dirty="0"/>
          </a:p>
        </p:txBody>
      </p:sp>
      <p:sp>
        <p:nvSpPr>
          <p:cNvPr id="18" name="Text 15"/>
          <p:cNvSpPr/>
          <p:nvPr/>
        </p:nvSpPr>
        <p:spPr>
          <a:xfrm>
            <a:off x="7498080" y="164592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Trợ lý ảo AutoCare AI Assistant:</a:t>
            </a:r>
            <a:endParaRPr lang="en-US" sz="1050" dirty="0"/>
          </a:p>
        </p:txBody>
      </p:sp>
      <p:sp>
        <p:nvSpPr>
          <p:cNvPr id="19" name="Text 16"/>
          <p:cNvSpPr/>
          <p:nvPr/>
        </p:nvSpPr>
        <p:spPr>
          <a:xfrm>
            <a:off x="7498080" y="190195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Tích hợp mô hình ngôn ngữ lớn LLM, giải đáp tức thì ý nghĩa đèn báo lỗi nguy hiểm trên taplo xe (Check Engine, Áp suất lốp, ABS...), tư vấn cách chăm sóc xe an toàn.</a:t>
            </a:r>
            <a:endParaRPr lang="en-US" sz="950" dirty="0"/>
          </a:p>
        </p:txBody>
      </p:sp>
      <p:sp>
        <p:nvSpPr>
          <p:cNvPr id="20" name="Text 17"/>
          <p:cNvSpPr/>
          <p:nvPr/>
        </p:nvSpPr>
        <p:spPr>
          <a:xfrm>
            <a:off x="7498080" y="260604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Dashboard Recharts trực quan:</a:t>
            </a:r>
            <a:endParaRPr lang="en-US" sz="1050" dirty="0"/>
          </a:p>
        </p:txBody>
      </p:sp>
      <p:sp>
        <p:nvSpPr>
          <p:cNvPr id="21" name="Text 18"/>
          <p:cNvSpPr/>
          <p:nvPr/>
        </p:nvSpPr>
        <p:spPr>
          <a:xfrm>
            <a:off x="7498080" y="286207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Biểu đồ tròn phân tích cơ cấu chi phí (nhớt, phụ tùng, bảo hiểm, đăng kiểm), biểu đồ cột theo dõi chi tiêu theo tháng và biểu đồ đường biến động kilomet.</a:t>
            </a:r>
            <a:endParaRPr lang="en-US" sz="950" dirty="0"/>
          </a:p>
        </p:txBody>
      </p:sp>
      <p:sp>
        <p:nvSpPr>
          <p:cNvPr id="22" name="Text 19"/>
          <p:cNvSpPr/>
          <p:nvPr/>
        </p:nvSpPr>
        <p:spPr>
          <a:xfrm>
            <a:off x="7498080" y="356616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Xuất báo cáo CSV &amp; Hóa đơn PDF:</a:t>
            </a:r>
            <a:endParaRPr lang="en-US" sz="1050" dirty="0"/>
          </a:p>
        </p:txBody>
      </p:sp>
      <p:sp>
        <p:nvSpPr>
          <p:cNvPr id="23" name="Text 20"/>
          <p:cNvSpPr/>
          <p:nvPr/>
        </p:nvSpPr>
        <p:spPr>
          <a:xfrm>
            <a:off x="7498080" y="382219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Xuất file CSV thống kê chi tiêu chuẩn UTF-8 BOM hiển thị tiếng Việt chuẩn trên Excel; xuất Hóa đơn sửa chữa chi tiết.</a:t>
            </a:r>
            <a:endParaRPr lang="en-US" sz="950" dirty="0"/>
          </a:p>
        </p:txBody>
      </p:sp>
      <p:sp>
        <p:nvSpPr>
          <p:cNvPr id="24" name="Text 21"/>
          <p:cNvSpPr/>
          <p:nvPr/>
        </p:nvSpPr>
        <p:spPr>
          <a:xfrm>
            <a:off x="7498080" y="452628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Đánh giá &amp; Phản hồi Gara:</a:t>
            </a:r>
            <a:endParaRPr lang="en-US" sz="1050" dirty="0"/>
          </a:p>
        </p:txBody>
      </p:sp>
      <p:sp>
        <p:nvSpPr>
          <p:cNvPr id="25" name="Text 22"/>
          <p:cNvSpPr/>
          <p:nvPr/>
        </p:nvSpPr>
        <p:spPr>
          <a:xfrm>
            <a:off x="7498080" y="478231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Chấm điểm 1 - 5 sao kèm nhận xét sau mỗi lần bảo dưỡng, giúp minh bạch hóa uy tín các gara trong mạng lưới.</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11. TRIỂN KHAI HỆ THỐNG</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MÔ HÌNH TRIỂN KHAI VẬN HÀNH TOÀN DIỆN (DEPLOYMENT)</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Kiến trúc triển khai Production trên môi trường Cloud bảo mật và cân bằng tải hiệu quả</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12/16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6583680" cy="5257800"/>
          </a:xfrm>
          <a:prstGeom prst="roundRect">
            <a:avLst/>
          </a:prstGeom>
          <a:solidFill>
            <a:srgbClr val="121B2B"/>
          </a:solidFill>
          <a:ln w="19050">
            <a:solidFill>
              <a:srgbClr val="06B6D4"/>
            </a:solidFill>
            <a:prstDash val="solid"/>
          </a:ln>
        </p:spPr>
      </p:sp>
      <p:pic>
        <p:nvPicPr>
          <p:cNvPr id="13" name="Image 0" descr="D:\DOANTOTNGHIEP\hinh_2_2_deployment_architecture.png">    </p:cNvPr>
          <p:cNvPicPr>
            <a:picLocks noChangeAspect="1"/>
          </p:cNvPicPr>
          <p:nvPr/>
        </p:nvPicPr>
        <p:blipFill>
          <a:blip r:embed="rId1"/>
          <a:stretch>
            <a:fillRect/>
          </a:stretch>
        </p:blipFill>
        <p:spPr>
          <a:xfrm>
            <a:off x="621792" y="1124712"/>
            <a:ext cx="6437376" cy="4873752"/>
          </a:xfrm>
          <a:prstGeom prst="rect">
            <a:avLst/>
          </a:prstGeom>
        </p:spPr>
      </p:pic>
      <p:sp>
        <p:nvSpPr>
          <p:cNvPr id="14" name="Shape 11"/>
          <p:cNvSpPr/>
          <p:nvPr/>
        </p:nvSpPr>
        <p:spPr>
          <a:xfrm>
            <a:off x="621792" y="5980176"/>
            <a:ext cx="6437376" cy="256032"/>
          </a:xfrm>
          <a:prstGeom prst="rect">
            <a:avLst/>
          </a:prstGeom>
          <a:solidFill>
            <a:srgbClr val="0F172A"/>
          </a:solidFill>
          <a:ln w="12700">
            <a:solidFill>
              <a:srgbClr val="334155"/>
            </a:solidFill>
            <a:prstDash val="solid"/>
          </a:ln>
        </p:spPr>
      </p:sp>
      <p:sp>
        <p:nvSpPr>
          <p:cNvPr id="15" name="Text 12"/>
          <p:cNvSpPr/>
          <p:nvPr/>
        </p:nvSpPr>
        <p:spPr>
          <a:xfrm>
            <a:off x="621792" y="5980176"/>
            <a:ext cx="6437376" cy="256032"/>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SƠ ĐỒ TRIỂN KHAI MẠNG &amp; CÂN BẰNG TẢI HỆ THỐNG</a:t>
            </a:r>
            <a:endParaRPr lang="en-US" sz="950" dirty="0"/>
          </a:p>
        </p:txBody>
      </p:sp>
      <p:sp>
        <p:nvSpPr>
          <p:cNvPr id="16" name="Shape 13"/>
          <p:cNvSpPr/>
          <p:nvPr/>
        </p:nvSpPr>
        <p:spPr>
          <a:xfrm>
            <a:off x="7315200" y="1051560"/>
            <a:ext cx="4325112" cy="5257800"/>
          </a:xfrm>
          <a:prstGeom prst="roundRect">
            <a:avLst/>
          </a:prstGeom>
          <a:solidFill>
            <a:srgbClr val="121B2B"/>
          </a:solidFill>
          <a:ln w="19050">
            <a:solidFill>
              <a:srgbClr val="06B6D4"/>
            </a:solidFill>
            <a:prstDash val="solid"/>
          </a:ln>
        </p:spPr>
      </p:sp>
      <p:sp>
        <p:nvSpPr>
          <p:cNvPr id="17" name="Text 14"/>
          <p:cNvSpPr/>
          <p:nvPr/>
        </p:nvSpPr>
        <p:spPr>
          <a:xfrm>
            <a:off x="7498080" y="1234440"/>
            <a:ext cx="3931920" cy="320040"/>
          </a:xfrm>
          <a:prstGeom prst="rect">
            <a:avLst/>
          </a:prstGeom>
          <a:noFill/>
          <a:ln/>
        </p:spPr>
        <p:txBody>
          <a:bodyPr wrap="square" rtlCol="0" anchor="ctr"/>
          <a:lstStyle/>
          <a:p>
            <a:pPr indent="0" marL="0">
              <a:buNone/>
            </a:pPr>
            <a:r>
              <a:rPr lang="en-US" sz="1300" b="1" dirty="0">
                <a:solidFill>
                  <a:srgbClr val="38BDF8"/>
                </a:solidFill>
                <a:latin typeface="Segoe UI" pitchFamily="34" charset="0"/>
                <a:ea typeface="Segoe UI" pitchFamily="34" charset="-122"/>
                <a:cs typeface="Segoe UI" pitchFamily="34" charset="-120"/>
              </a:rPr>
              <a:t>HẠ TẦNG VẬN HÀNH HỆ THỐNG</a:t>
            </a:r>
            <a:endParaRPr lang="en-US" sz="1300" dirty="0"/>
          </a:p>
        </p:txBody>
      </p:sp>
      <p:sp>
        <p:nvSpPr>
          <p:cNvPr id="18" name="Text 15"/>
          <p:cNvSpPr/>
          <p:nvPr/>
        </p:nvSpPr>
        <p:spPr>
          <a:xfrm>
            <a:off x="7498080" y="169164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Nginx Reverse Proxy / Load Balancer:</a:t>
            </a:r>
            <a:endParaRPr lang="en-US" sz="1050" dirty="0"/>
          </a:p>
        </p:txBody>
      </p:sp>
      <p:sp>
        <p:nvSpPr>
          <p:cNvPr id="19" name="Text 16"/>
          <p:cNvSpPr/>
          <p:nvPr/>
        </p:nvSpPr>
        <p:spPr>
          <a:xfrm>
            <a:off x="7498080" y="194767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Điều hướng lưu lượng truy cập, cấu hình chứng chỉ bảo mật SSL/TLS (HTTPS) và tối ưu hóa nén Gzip.</a:t>
            </a:r>
            <a:endParaRPr lang="en-US" sz="950" dirty="0"/>
          </a:p>
        </p:txBody>
      </p:sp>
      <p:sp>
        <p:nvSpPr>
          <p:cNvPr id="20" name="Text 17"/>
          <p:cNvSpPr/>
          <p:nvPr/>
        </p:nvSpPr>
        <p:spPr>
          <a:xfrm>
            <a:off x="7498080" y="265176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Node.js PM2 Cluster Mode:</a:t>
            </a:r>
            <a:endParaRPr lang="en-US" sz="1050" dirty="0"/>
          </a:p>
        </p:txBody>
      </p:sp>
      <p:sp>
        <p:nvSpPr>
          <p:cNvPr id="21" name="Text 18"/>
          <p:cNvSpPr/>
          <p:nvPr/>
        </p:nvSpPr>
        <p:spPr>
          <a:xfrm>
            <a:off x="7498080" y="290779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Quản lý tiến trình Back-end NestJS chạy ngầm, tự động khởi động lại (Zero-downtime) khi có lỗi.</a:t>
            </a:r>
            <a:endParaRPr lang="en-US" sz="950" dirty="0"/>
          </a:p>
        </p:txBody>
      </p:sp>
      <p:sp>
        <p:nvSpPr>
          <p:cNvPr id="22" name="Text 19"/>
          <p:cNvSpPr/>
          <p:nvPr/>
        </p:nvSpPr>
        <p:spPr>
          <a:xfrm>
            <a:off x="7498080" y="361188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WebSocket Gateway (Port 3000):</a:t>
            </a:r>
            <a:endParaRPr lang="en-US" sz="1050" dirty="0"/>
          </a:p>
        </p:txBody>
      </p:sp>
      <p:sp>
        <p:nvSpPr>
          <p:cNvPr id="23" name="Text 20"/>
          <p:cNvSpPr/>
          <p:nvPr/>
        </p:nvSpPr>
        <p:spPr>
          <a:xfrm>
            <a:off x="7498080" y="386791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Duy trì kết nối hai chiều liên tục (Full-duplex) giữa hàng nghìn Client và Server phục vụ thông báo đẩy.</a:t>
            </a:r>
            <a:endParaRPr lang="en-US" sz="950" dirty="0"/>
          </a:p>
        </p:txBody>
      </p:sp>
      <p:sp>
        <p:nvSpPr>
          <p:cNvPr id="24" name="Text 21"/>
          <p:cNvSpPr/>
          <p:nvPr/>
        </p:nvSpPr>
        <p:spPr>
          <a:xfrm>
            <a:off x="7498080" y="4572000"/>
            <a:ext cx="3931920" cy="256032"/>
          </a:xfrm>
          <a:prstGeom prst="rect">
            <a:avLst/>
          </a:prstGeom>
          <a:noFill/>
          <a:ln/>
        </p:spPr>
        <p:txBody>
          <a:bodyPr wrap="square" rtlCol="0" anchor="ctr"/>
          <a:lstStyle/>
          <a:p>
            <a:pPr indent="0" marL="0">
              <a:buNone/>
            </a:pPr>
            <a:r>
              <a:rPr lang="en-US" sz="1050" b="1" dirty="0">
                <a:solidFill>
                  <a:srgbClr val="FBBF24"/>
                </a:solidFill>
                <a:latin typeface="Segoe UI" pitchFamily="34" charset="0"/>
                <a:ea typeface="Segoe UI" pitchFamily="34" charset="-122"/>
                <a:cs typeface="Segoe UI" pitchFamily="34" charset="-120"/>
              </a:rPr>
              <a:t>• Database High Availability:</a:t>
            </a:r>
            <a:endParaRPr lang="en-US" sz="1050" dirty="0"/>
          </a:p>
        </p:txBody>
      </p:sp>
      <p:sp>
        <p:nvSpPr>
          <p:cNvPr id="25" name="Text 22"/>
          <p:cNvSpPr/>
          <p:nvPr/>
        </p:nvSpPr>
        <p:spPr>
          <a:xfrm>
            <a:off x="7498080" y="4828032"/>
            <a:ext cx="3931920" cy="658368"/>
          </a:xfrm>
          <a:prstGeom prst="rect">
            <a:avLst/>
          </a:prstGeom>
          <a:noFill/>
          <a:ln/>
        </p:spPr>
        <p:txBody>
          <a:bodyPr wrap="square" rtlCol="0" anchor="ctr"/>
          <a:lstStyle/>
          <a:p>
            <a:pPr indent="0" marL="0">
              <a:lnSpc>
                <a:spcPts val="1400"/>
              </a:lnSpc>
              <a:buNone/>
            </a:pPr>
            <a:r>
              <a:rPr lang="en-US" sz="950" dirty="0">
                <a:solidFill>
                  <a:srgbClr val="E2E8F0"/>
                </a:solidFill>
                <a:latin typeface="Segoe UI" pitchFamily="34" charset="0"/>
                <a:ea typeface="Segoe UI" pitchFamily="34" charset="-122"/>
                <a:cs typeface="Segoe UI" pitchFamily="34" charset="-120"/>
              </a:rPr>
              <a:t>SQL Server cấu hình tự động sao lưu định kỳ hàng ngày (Automated Nightly Backup) bảo toàn dữ liệu.</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12. KIỂM THỬ HỆ THỐNG</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KIỂM THỬ CHỨC NĂNG, KIỂM THỬ API &amp; ĐÁNH GIÁ KẾT QUẢ</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Kiểm thử toàn diện kịch bản Black-box, xác thực API Postman và kịch bản dị thường</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13/16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3520440" cy="5257800"/>
          </a:xfrm>
          <a:prstGeom prst="roundRect">
            <a:avLst/>
          </a:prstGeom>
          <a:solidFill>
            <a:srgbClr val="121B2B"/>
          </a:solidFill>
          <a:ln w="19050">
            <a:solidFill>
              <a:srgbClr val="0284C7"/>
            </a:solidFill>
            <a:prstDash val="solid"/>
          </a:ln>
        </p:spPr>
      </p:sp>
      <p:sp>
        <p:nvSpPr>
          <p:cNvPr id="13" name="Shape 11"/>
          <p:cNvSpPr/>
          <p:nvPr/>
        </p:nvSpPr>
        <p:spPr>
          <a:xfrm>
            <a:off x="731520" y="1234440"/>
            <a:ext cx="3154680" cy="292608"/>
          </a:xfrm>
          <a:prstGeom prst="roundRect">
            <a:avLst/>
          </a:prstGeom>
          <a:solidFill>
            <a:srgbClr val="0F172A"/>
          </a:solidFill>
          <a:ln w="12700">
            <a:solidFill>
              <a:srgbClr val="0284C7"/>
            </a:solidFill>
            <a:prstDash val="solid"/>
          </a:ln>
        </p:spPr>
      </p:sp>
      <p:sp>
        <p:nvSpPr>
          <p:cNvPr id="14" name="Text 12"/>
          <p:cNvSpPr/>
          <p:nvPr/>
        </p:nvSpPr>
        <p:spPr>
          <a:xfrm>
            <a:off x="731520" y="1234440"/>
            <a:ext cx="3154680" cy="292608"/>
          </a:xfrm>
          <a:prstGeom prst="rect">
            <a:avLst/>
          </a:prstGeom>
          <a:noFill/>
          <a:ln/>
        </p:spPr>
        <p:txBody>
          <a:bodyPr wrap="square" rtlCol="0" anchor="ctr"/>
          <a:lstStyle/>
          <a:p>
            <a:pPr algn="ctr" indent="0" marL="0">
              <a:buNone/>
            </a:pPr>
            <a:r>
              <a:rPr lang="en-US" sz="900" b="1" dirty="0">
                <a:solidFill>
                  <a:srgbClr val="0284C7"/>
                </a:solidFill>
                <a:latin typeface="Segoe UI" pitchFamily="34" charset="0"/>
                <a:ea typeface="Segoe UI" pitchFamily="34" charset="-122"/>
                <a:cs typeface="Segoe UI" pitchFamily="34" charset="-120"/>
              </a:rPr>
              <a:t>100% TEST PASS</a:t>
            </a:r>
            <a:endParaRPr lang="en-US" sz="900" dirty="0"/>
          </a:p>
        </p:txBody>
      </p:sp>
      <p:sp>
        <p:nvSpPr>
          <p:cNvPr id="15" name="Text 13"/>
          <p:cNvSpPr/>
          <p:nvPr/>
        </p:nvSpPr>
        <p:spPr>
          <a:xfrm>
            <a:off x="731520" y="1600200"/>
            <a:ext cx="3154680" cy="594360"/>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KIỂM THỬ CHỨC NĂNG (BLACK-BOX)</a:t>
            </a:r>
            <a:endParaRPr lang="en-US" sz="1250" dirty="0"/>
          </a:p>
        </p:txBody>
      </p:sp>
      <p:sp>
        <p:nvSpPr>
          <p:cNvPr id="16" name="Shape 14"/>
          <p:cNvSpPr/>
          <p:nvPr/>
        </p:nvSpPr>
        <p:spPr>
          <a:xfrm>
            <a:off x="731520" y="2240280"/>
            <a:ext cx="3154680" cy="0"/>
          </a:xfrm>
          <a:prstGeom prst="line">
            <a:avLst/>
          </a:prstGeom>
          <a:noFill/>
          <a:ln w="12700">
            <a:solidFill>
              <a:srgbClr val="334155"/>
            </a:solidFill>
            <a:prstDash val="solid"/>
          </a:ln>
        </p:spPr>
      </p:sp>
      <p:sp>
        <p:nvSpPr>
          <p:cNvPr id="17" name="Text 15"/>
          <p:cNvSpPr/>
          <p:nvPr/>
        </p:nvSpPr>
        <p:spPr>
          <a:xfrm>
            <a:off x="731520" y="2377440"/>
            <a:ext cx="3154680" cy="374904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 Xác thực đăng ký, đăng nhập JWT và luồng OTP Email khôi phục mật khẩu.
• Phân quyền 3 Role: Chặn User truy cập /admin/dashboard, chuyển hướng an toàn.
• Thêm xe, cập nhật Odometer: Chặn nhập số km mới nhỏ hơn số km cũ.
• Đặt lịch hẹn Gara: Chuyển đổi trạng thái 4 bước khép kín không nhảy cóc.
</a:t>
            </a:r>
            <a:endParaRPr lang="en-US" sz="1050" dirty="0"/>
          </a:p>
        </p:txBody>
      </p:sp>
      <p:sp>
        <p:nvSpPr>
          <p:cNvPr id="18" name="Shape 16"/>
          <p:cNvSpPr/>
          <p:nvPr/>
        </p:nvSpPr>
        <p:spPr>
          <a:xfrm>
            <a:off x="4251960" y="1051560"/>
            <a:ext cx="3520440" cy="5257800"/>
          </a:xfrm>
          <a:prstGeom prst="roundRect">
            <a:avLst/>
          </a:prstGeom>
          <a:solidFill>
            <a:srgbClr val="121B2B"/>
          </a:solidFill>
          <a:ln w="19050">
            <a:solidFill>
              <a:srgbClr val="10B981"/>
            </a:solidFill>
            <a:prstDash val="solid"/>
          </a:ln>
        </p:spPr>
      </p:sp>
      <p:sp>
        <p:nvSpPr>
          <p:cNvPr id="19" name="Shape 17"/>
          <p:cNvSpPr/>
          <p:nvPr/>
        </p:nvSpPr>
        <p:spPr>
          <a:xfrm>
            <a:off x="4434840" y="1234440"/>
            <a:ext cx="3154680" cy="292608"/>
          </a:xfrm>
          <a:prstGeom prst="roundRect">
            <a:avLst/>
          </a:prstGeom>
          <a:solidFill>
            <a:srgbClr val="0F172A"/>
          </a:solidFill>
          <a:ln w="12700">
            <a:solidFill>
              <a:srgbClr val="10B981"/>
            </a:solidFill>
            <a:prstDash val="solid"/>
          </a:ln>
        </p:spPr>
      </p:sp>
      <p:sp>
        <p:nvSpPr>
          <p:cNvPr id="20" name="Text 18"/>
          <p:cNvSpPr/>
          <p:nvPr/>
        </p:nvSpPr>
        <p:spPr>
          <a:xfrm>
            <a:off x="4434840" y="1234440"/>
            <a:ext cx="3154680" cy="292608"/>
          </a:xfrm>
          <a:prstGeom prst="rect">
            <a:avLst/>
          </a:prstGeom>
          <a:noFill/>
          <a:ln/>
        </p:spPr>
        <p:txBody>
          <a:bodyPr wrap="square" rtlCol="0" anchor="ctr"/>
          <a:lstStyle/>
          <a:p>
            <a:pPr algn="ctr" indent="0" marL="0">
              <a:buNone/>
            </a:pPr>
            <a:r>
              <a:rPr lang="en-US" sz="900" b="1" dirty="0">
                <a:solidFill>
                  <a:srgbClr val="10B981"/>
                </a:solidFill>
                <a:latin typeface="Segoe UI" pitchFamily="34" charset="0"/>
                <a:ea typeface="Segoe UI" pitchFamily="34" charset="-122"/>
                <a:cs typeface="Segoe UI" pitchFamily="34" charset="-120"/>
              </a:rPr>
              <a:t>30+ API ENDPOINTS</a:t>
            </a:r>
            <a:endParaRPr lang="en-US" sz="900" dirty="0"/>
          </a:p>
        </p:txBody>
      </p:sp>
      <p:sp>
        <p:nvSpPr>
          <p:cNvPr id="21" name="Text 19"/>
          <p:cNvSpPr/>
          <p:nvPr/>
        </p:nvSpPr>
        <p:spPr>
          <a:xfrm>
            <a:off x="4434840" y="1600200"/>
            <a:ext cx="3154680" cy="594360"/>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KIỂM THỬ API &amp; RÀNG BUỘC CSDL</a:t>
            </a:r>
            <a:endParaRPr lang="en-US" sz="1250" dirty="0"/>
          </a:p>
        </p:txBody>
      </p:sp>
      <p:sp>
        <p:nvSpPr>
          <p:cNvPr id="22" name="Shape 20"/>
          <p:cNvSpPr/>
          <p:nvPr/>
        </p:nvSpPr>
        <p:spPr>
          <a:xfrm>
            <a:off x="4434840" y="2240280"/>
            <a:ext cx="3154680" cy="0"/>
          </a:xfrm>
          <a:prstGeom prst="line">
            <a:avLst/>
          </a:prstGeom>
          <a:noFill/>
          <a:ln w="12700">
            <a:solidFill>
              <a:srgbClr val="334155"/>
            </a:solidFill>
            <a:prstDash val="solid"/>
          </a:ln>
        </p:spPr>
      </p:sp>
      <p:sp>
        <p:nvSpPr>
          <p:cNvPr id="23" name="Text 21"/>
          <p:cNvSpPr/>
          <p:nvPr/>
        </p:nvSpPr>
        <p:spPr>
          <a:xfrm>
            <a:off x="4434840" y="2377440"/>
            <a:ext cx="3154680" cy="374904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 Kiểm thử toàn bộ Endpoints với dữ liệu hợp lệ và biên dữ liệu rỗng/sai định dạng.
• Kiểm tra ràng buộc Unique Biển số xe: Trả về HTTP 400 khi nhập trùng biển.
• Kiểm tra Transaction khi Gara bấm Hoàn tất: Ghi sổ và cập nhật xe nguyên tử (ACID).
</a:t>
            </a:r>
            <a:endParaRPr lang="en-US" sz="1050" dirty="0"/>
          </a:p>
        </p:txBody>
      </p:sp>
      <p:sp>
        <p:nvSpPr>
          <p:cNvPr id="24" name="Shape 22"/>
          <p:cNvSpPr/>
          <p:nvPr/>
        </p:nvSpPr>
        <p:spPr>
          <a:xfrm>
            <a:off x="7955280" y="1051560"/>
            <a:ext cx="3520440" cy="5257800"/>
          </a:xfrm>
          <a:prstGeom prst="roundRect">
            <a:avLst/>
          </a:prstGeom>
          <a:solidFill>
            <a:srgbClr val="121B2B"/>
          </a:solidFill>
          <a:ln w="19050">
            <a:solidFill>
              <a:srgbClr val="8B5CF6"/>
            </a:solidFill>
            <a:prstDash val="solid"/>
          </a:ln>
        </p:spPr>
      </p:sp>
      <p:sp>
        <p:nvSpPr>
          <p:cNvPr id="25" name="Shape 23"/>
          <p:cNvSpPr/>
          <p:nvPr/>
        </p:nvSpPr>
        <p:spPr>
          <a:xfrm>
            <a:off x="8138160" y="1234440"/>
            <a:ext cx="3154680" cy="292608"/>
          </a:xfrm>
          <a:prstGeom prst="roundRect">
            <a:avLst/>
          </a:prstGeom>
          <a:solidFill>
            <a:srgbClr val="0F172A"/>
          </a:solidFill>
          <a:ln w="12700">
            <a:solidFill>
              <a:srgbClr val="8B5CF6"/>
            </a:solidFill>
            <a:prstDash val="solid"/>
          </a:ln>
        </p:spPr>
      </p:sp>
      <p:sp>
        <p:nvSpPr>
          <p:cNvPr id="26" name="Text 24"/>
          <p:cNvSpPr/>
          <p:nvPr/>
        </p:nvSpPr>
        <p:spPr>
          <a:xfrm>
            <a:off x="8138160" y="1234440"/>
            <a:ext cx="3154680" cy="292608"/>
          </a:xfrm>
          <a:prstGeom prst="rect">
            <a:avLst/>
          </a:prstGeom>
          <a:noFill/>
          <a:ln/>
        </p:spPr>
        <p:txBody>
          <a:bodyPr wrap="square" rtlCol="0" anchor="ctr"/>
          <a:lstStyle/>
          <a:p>
            <a:pPr algn="ctr" indent="0" marL="0">
              <a:buNone/>
            </a:pPr>
            <a:r>
              <a:rPr lang="en-US" sz="900" b="1" dirty="0">
                <a:solidFill>
                  <a:srgbClr val="8B5CF6"/>
                </a:solidFill>
                <a:latin typeface="Segoe UI" pitchFamily="34" charset="0"/>
                <a:ea typeface="Segoe UI" pitchFamily="34" charset="-122"/>
                <a:cs typeface="Segoe UI" pitchFamily="34" charset="-120"/>
              </a:rPr>
              <a:t>&lt; 200MS LATENCY</a:t>
            </a:r>
            <a:endParaRPr lang="en-US" sz="900" dirty="0"/>
          </a:p>
        </p:txBody>
      </p:sp>
      <p:sp>
        <p:nvSpPr>
          <p:cNvPr id="27" name="Text 25"/>
          <p:cNvSpPr/>
          <p:nvPr/>
        </p:nvSpPr>
        <p:spPr>
          <a:xfrm>
            <a:off x="8138160" y="1600200"/>
            <a:ext cx="3154680" cy="594360"/>
          </a:xfrm>
          <a:prstGeom prst="rect">
            <a:avLst/>
          </a:prstGeom>
          <a:noFill/>
          <a:ln/>
        </p:spPr>
        <p:txBody>
          <a:bodyPr wrap="square"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KIỂM THỬ REAL-TIME &amp; NGOẠI LỆ</a:t>
            </a:r>
            <a:endParaRPr lang="en-US" sz="1250" dirty="0"/>
          </a:p>
        </p:txBody>
      </p:sp>
      <p:sp>
        <p:nvSpPr>
          <p:cNvPr id="28" name="Shape 26"/>
          <p:cNvSpPr/>
          <p:nvPr/>
        </p:nvSpPr>
        <p:spPr>
          <a:xfrm>
            <a:off x="8138160" y="2240280"/>
            <a:ext cx="3154680" cy="0"/>
          </a:xfrm>
          <a:prstGeom prst="line">
            <a:avLst/>
          </a:prstGeom>
          <a:noFill/>
          <a:ln w="12700">
            <a:solidFill>
              <a:srgbClr val="334155"/>
            </a:solidFill>
            <a:prstDash val="solid"/>
          </a:ln>
        </p:spPr>
      </p:sp>
      <p:sp>
        <p:nvSpPr>
          <p:cNvPr id="29" name="Text 27"/>
          <p:cNvSpPr/>
          <p:nvPr/>
        </p:nvSpPr>
        <p:spPr>
          <a:xfrm>
            <a:off x="8138160" y="2377440"/>
            <a:ext cx="3154680" cy="374904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 Độ trễ thông báo WebSockets Socket.IO duy trì dưới 200ms trên môi trường thử nghiệm.
• Xử lý ảnh OCR bị mờ: Khung nhập liệu Editable cho phép chỉnh sửa bù trừ trực tiếp.
• Kiểm thử gián đoạn mạng: Hệ thống tự động Re-connect khi khôi phục đường truyền.
</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13. KẾT QUẢ ĐẠT ĐƯỢC</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KẾT QUẢ ĐẠT ĐƯỢC &amp; ĐÓNG GÓP THỰC TIỄN CỦA ĐỀ TÀI</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Tổng kết những giá trị kỹ thuật và tính ứng dụng thực tiễn nổi bật của hệ thống ACOH</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14/16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11091672" cy="2423160"/>
          </a:xfrm>
          <a:prstGeom prst="roundRect">
            <a:avLst/>
          </a:prstGeom>
          <a:solidFill>
            <a:srgbClr val="121B2B"/>
          </a:solidFill>
          <a:ln w="19050">
            <a:solidFill>
              <a:srgbClr val="0284C7"/>
            </a:solidFill>
            <a:prstDash val="solid"/>
          </a:ln>
        </p:spPr>
      </p:sp>
      <p:sp>
        <p:nvSpPr>
          <p:cNvPr id="13" name="Shape 11"/>
          <p:cNvSpPr/>
          <p:nvPr/>
        </p:nvSpPr>
        <p:spPr>
          <a:xfrm>
            <a:off x="548640" y="1051560"/>
            <a:ext cx="91440" cy="2423160"/>
          </a:xfrm>
          <a:prstGeom prst="rect">
            <a:avLst/>
          </a:prstGeom>
          <a:solidFill>
            <a:srgbClr val="0284C7"/>
          </a:solidFill>
          <a:ln w="12700">
            <a:solidFill>
              <a:srgbClr val="0284C7"/>
            </a:solidFill>
            <a:prstDash val="solid"/>
          </a:ln>
        </p:spPr>
      </p:sp>
      <p:sp>
        <p:nvSpPr>
          <p:cNvPr id="14" name="Text 12"/>
          <p:cNvSpPr/>
          <p:nvPr/>
        </p:nvSpPr>
        <p:spPr>
          <a:xfrm>
            <a:off x="822960" y="1216152"/>
            <a:ext cx="10515600" cy="320040"/>
          </a:xfrm>
          <a:prstGeom prst="rect">
            <a:avLst/>
          </a:prstGeom>
          <a:noFill/>
          <a:ln/>
        </p:spPr>
        <p:txBody>
          <a:bodyPr wrap="square" rtlCol="0" anchor="ctr"/>
          <a:lstStyle/>
          <a:p>
            <a:pPr indent="0" marL="0">
              <a:buNone/>
            </a:pPr>
            <a:r>
              <a:rPr lang="en-US" sz="1350" b="1" dirty="0">
                <a:solidFill>
                  <a:srgbClr val="0284C7"/>
                </a:solidFill>
                <a:latin typeface="Segoe UI" pitchFamily="34" charset="0"/>
                <a:ea typeface="Segoe UI" pitchFamily="34" charset="-122"/>
                <a:cs typeface="Segoe UI" pitchFamily="34" charset="-120"/>
              </a:rPr>
              <a:t>VỀ MẶT KỸ THUẬT &amp; CÔNG NGHỆ</a:t>
            </a:r>
            <a:endParaRPr lang="en-US" sz="1350" dirty="0"/>
          </a:p>
        </p:txBody>
      </p:sp>
      <p:sp>
        <p:nvSpPr>
          <p:cNvPr id="15" name="Text 13"/>
          <p:cNvSpPr/>
          <p:nvPr/>
        </p:nvSpPr>
        <p:spPr>
          <a:xfrm>
            <a:off x="822960" y="1600200"/>
            <a:ext cx="10515600" cy="1737360"/>
          </a:xfrm>
          <a:prstGeom prst="rect">
            <a:avLst/>
          </a:prstGeom>
          <a:noFill/>
          <a:ln/>
        </p:spPr>
        <p:txBody>
          <a:bodyPr wrap="square" rtlCol="0" anchor="ctr"/>
          <a:lstStyle/>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Xây dựng thành công ứng dụng Web Responsive chuẩn Mobile-First (hỗ trợ Light / Dark Mode mượt mà).
✔ Làm chủ kiến trúc NestJS Clean Architecture 3 lớp có tính mở rộng cao, cấu trúc module hóa rõ ràng.
✔ Thiết kế CSDL SQL Server 2014+ chuẩn hóa 3NF, đánh chỉ mục (Index) tối ưu hóa truy vấn dữ liệu lớn.
✔ Tích hợp thành công AI OCR Tesseract nhận diện biển số thực tế và WebSockets Real-time thông suốt.
</a:t>
            </a:r>
            <a:endParaRPr lang="en-US" sz="1100" dirty="0"/>
          </a:p>
        </p:txBody>
      </p:sp>
      <p:sp>
        <p:nvSpPr>
          <p:cNvPr id="16" name="Shape 14"/>
          <p:cNvSpPr/>
          <p:nvPr/>
        </p:nvSpPr>
        <p:spPr>
          <a:xfrm>
            <a:off x="548640" y="3657600"/>
            <a:ext cx="11091672" cy="2423160"/>
          </a:xfrm>
          <a:prstGeom prst="roundRect">
            <a:avLst/>
          </a:prstGeom>
          <a:solidFill>
            <a:srgbClr val="121B2B"/>
          </a:solidFill>
          <a:ln w="19050">
            <a:solidFill>
              <a:srgbClr val="10B981"/>
            </a:solidFill>
            <a:prstDash val="solid"/>
          </a:ln>
        </p:spPr>
      </p:sp>
      <p:sp>
        <p:nvSpPr>
          <p:cNvPr id="17" name="Shape 15"/>
          <p:cNvSpPr/>
          <p:nvPr/>
        </p:nvSpPr>
        <p:spPr>
          <a:xfrm>
            <a:off x="548640" y="3657600"/>
            <a:ext cx="91440" cy="2423160"/>
          </a:xfrm>
          <a:prstGeom prst="rect">
            <a:avLst/>
          </a:prstGeom>
          <a:solidFill>
            <a:srgbClr val="10B981"/>
          </a:solidFill>
          <a:ln w="12700">
            <a:solidFill>
              <a:srgbClr val="10B981"/>
            </a:solidFill>
            <a:prstDash val="solid"/>
          </a:ln>
        </p:spPr>
      </p:sp>
      <p:sp>
        <p:nvSpPr>
          <p:cNvPr id="18" name="Text 16"/>
          <p:cNvSpPr/>
          <p:nvPr/>
        </p:nvSpPr>
        <p:spPr>
          <a:xfrm>
            <a:off x="822960" y="3822192"/>
            <a:ext cx="10515600" cy="320040"/>
          </a:xfrm>
          <a:prstGeom prst="rect">
            <a:avLst/>
          </a:prstGeom>
          <a:noFill/>
          <a:ln/>
        </p:spPr>
        <p:txBody>
          <a:bodyPr wrap="square" rtlCol="0" anchor="ctr"/>
          <a:lstStyle/>
          <a:p>
            <a:pPr indent="0" marL="0">
              <a:buNone/>
            </a:pPr>
            <a:r>
              <a:rPr lang="en-US" sz="1350" b="1" dirty="0">
                <a:solidFill>
                  <a:srgbClr val="10B981"/>
                </a:solidFill>
                <a:latin typeface="Segoe UI" pitchFamily="34" charset="0"/>
                <a:ea typeface="Segoe UI" pitchFamily="34" charset="-122"/>
                <a:cs typeface="Segoe UI" pitchFamily="34" charset="-120"/>
              </a:rPr>
              <a:t>VỀ MẶT NGHIỆP VỤ &amp; THỰC TIỄN</a:t>
            </a:r>
            <a:endParaRPr lang="en-US" sz="1350" dirty="0"/>
          </a:p>
        </p:txBody>
      </p:sp>
      <p:sp>
        <p:nvSpPr>
          <p:cNvPr id="19" name="Text 17"/>
          <p:cNvSpPr/>
          <p:nvPr/>
        </p:nvSpPr>
        <p:spPr>
          <a:xfrm>
            <a:off x="822960" y="4206240"/>
            <a:ext cx="10515600" cy="1737360"/>
          </a:xfrm>
          <a:prstGeom prst="rect">
            <a:avLst/>
          </a:prstGeom>
          <a:noFill/>
          <a:ln/>
        </p:spPr>
        <p:txBody>
          <a:bodyPr wrap="square" rtlCol="0" anchor="ctr"/>
          <a:lstStyle/>
          <a:p>
            <a:pPr indent="0" marL="0">
              <a:lnSpc>
                <a:spcPts val="1800"/>
              </a:lnSpc>
              <a:buNone/>
            </a:pPr>
            <a:r>
              <a:rPr lang="en-US" sz="1100" dirty="0">
                <a:solidFill>
                  <a:srgbClr val="E2E8F0"/>
                </a:solidFill>
                <a:latin typeface="Segoe UI" pitchFamily="34" charset="0"/>
                <a:ea typeface="Segoe UI" pitchFamily="34" charset="-122"/>
                <a:cs typeface="Segoe UI" pitchFamily="34" charset="-120"/>
              </a:rPr>
              <a:t>✔ Giải quyết triệt để vấn đề quên hạn đăng kiểm, bảo hiểm bắt buộc và mốc thay dầu cho chủ phương tiện.
✔ Chuẩn hóa quy trình vận hành dịch vụ gara 4 bước minh bạch, số hóa phiếu kiểm tra và hóa đơn điện tử.
✔ Cung cấp công cụ quản lý đội xe dịch vụ (Grab, Taxi, Hợp tác xã) phù hợp với quy định pháp luật Việt Nam.
✔ Tạo dựng cầu nối tương tác kỹ thuật số trực tiếp, minh bạch và tin cậy giữa chủ xe và hệ thống xưởng.
</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06B6D4"/>
          </a:solidFill>
          <a:ln w="12700">
            <a:solidFill>
              <a:srgbClr val="06B6D4"/>
            </a:solidFill>
            <a:prstDash val="solid"/>
          </a:ln>
        </p:spPr>
      </p:sp>
      <p:sp>
        <p:nvSpPr>
          <p:cNvPr id="3" name="Shape 1"/>
          <p:cNvSpPr/>
          <p:nvPr/>
        </p:nvSpPr>
        <p:spPr>
          <a:xfrm>
            <a:off x="548640" y="256032"/>
            <a:ext cx="2560320" cy="292608"/>
          </a:xfrm>
          <a:prstGeom prst="roundRect">
            <a:avLst/>
          </a:prstGeom>
          <a:solidFill>
            <a:srgbClr val="172554"/>
          </a:solidFill>
          <a:ln w="12700">
            <a:solidFill>
              <a:srgbClr val="06B6D4"/>
            </a:solidFill>
            <a:prstDash val="solid"/>
          </a:ln>
        </p:spPr>
      </p:sp>
      <p:sp>
        <p:nvSpPr>
          <p:cNvPr id="4" name="Text 2"/>
          <p:cNvSpPr/>
          <p:nvPr/>
        </p:nvSpPr>
        <p:spPr>
          <a:xfrm>
            <a:off x="548640" y="256032"/>
            <a:ext cx="2560320" cy="292608"/>
          </a:xfrm>
          <a:prstGeom prst="rect">
            <a:avLst/>
          </a:prstGeom>
          <a:noFill/>
          <a:ln/>
        </p:spPr>
        <p:txBody>
          <a:bodyPr wrap="square" rtlCol="0" anchor="ctr"/>
          <a:lstStyle/>
          <a:p>
            <a:pPr algn="ctr" indent="0" marL="0">
              <a:buNone/>
            </a:pPr>
            <a:r>
              <a:rPr lang="en-US" sz="950" b="1" dirty="0">
                <a:solidFill>
                  <a:srgbClr val="38BDF8"/>
                </a:solidFill>
                <a:latin typeface="Segoe UI" pitchFamily="34" charset="0"/>
                <a:ea typeface="Segoe UI" pitchFamily="34" charset="-122"/>
                <a:cs typeface="Segoe UI" pitchFamily="34" charset="-120"/>
              </a:rPr>
              <a:t>✦ 14. ĐỊNH HƯỚNG TƯƠNG LAI</a:t>
            </a:r>
            <a:endParaRPr lang="en-US" sz="950" dirty="0"/>
          </a:p>
        </p:txBody>
      </p:sp>
      <p:sp>
        <p:nvSpPr>
          <p:cNvPr id="5" name="Text 3"/>
          <p:cNvSpPr/>
          <p:nvPr/>
        </p:nvSpPr>
        <p:spPr>
          <a:xfrm>
            <a:off x="3246120" y="201168"/>
            <a:ext cx="7132320" cy="384048"/>
          </a:xfrm>
          <a:prstGeom prst="rect">
            <a:avLst/>
          </a:prstGeom>
          <a:noFill/>
          <a:ln/>
        </p:spPr>
        <p:txBody>
          <a:bodyPr wrap="square" rtlCol="0" anchor="ctr"/>
          <a:lstStyle/>
          <a:p>
            <a:pPr indent="0" marL="0">
              <a:buNone/>
            </a:pPr>
            <a:r>
              <a:rPr lang="en-US" sz="1800" b="1" dirty="0">
                <a:solidFill>
                  <a:srgbClr val="FFFFFF"/>
                </a:solidFill>
                <a:latin typeface="Segoe UI" pitchFamily="34" charset="0"/>
                <a:ea typeface="Segoe UI" pitchFamily="34" charset="-122"/>
                <a:cs typeface="Segoe UI" pitchFamily="34" charset="-120"/>
              </a:rPr>
              <a:t>ĐỊNH HƯỚNG PHÁT TRIỂN &amp; MỞ RỘNG TRONG TƯƠNG LAI</a:t>
            </a:r>
            <a:endParaRPr lang="en-US" sz="1800" dirty="0"/>
          </a:p>
        </p:txBody>
      </p:sp>
      <p:sp>
        <p:nvSpPr>
          <p:cNvPr id="6" name="Text 4"/>
          <p:cNvSpPr/>
          <p:nvPr/>
        </p:nvSpPr>
        <p:spPr>
          <a:xfrm>
            <a:off x="548640" y="585216"/>
            <a:ext cx="9875520" cy="256032"/>
          </a:xfrm>
          <a:prstGeom prst="rect">
            <a:avLst/>
          </a:prstGeom>
          <a:noFill/>
          <a:ln/>
        </p:spPr>
        <p:txBody>
          <a:bodyPr wrap="square" rtlCol="0" anchor="ctr"/>
          <a:lstStyle/>
          <a:p>
            <a:pPr indent="0" marL="0">
              <a:buNone/>
            </a:pPr>
            <a:r>
              <a:rPr lang="en-US" sz="1100" i="1" dirty="0">
                <a:solidFill>
                  <a:srgbClr val="94A3B8"/>
                </a:solidFill>
                <a:latin typeface="Segoe UI" pitchFamily="34" charset="0"/>
                <a:ea typeface="Segoe UI" pitchFamily="34" charset="-122"/>
                <a:cs typeface="Segoe UI" pitchFamily="34" charset="-120"/>
              </a:rPr>
              <a:t>Kế hoạch mở rộng các kênh thông báo tự động và kết nối phần cứng IoT Telematics</a:t>
            </a:r>
            <a:endParaRPr lang="en-US" sz="1100" dirty="0"/>
          </a:p>
        </p:txBody>
      </p:sp>
      <p:sp>
        <p:nvSpPr>
          <p:cNvPr id="7" name="Shape 5"/>
          <p:cNvSpPr/>
          <p:nvPr/>
        </p:nvSpPr>
        <p:spPr>
          <a:xfrm>
            <a:off x="10607040" y="256032"/>
            <a:ext cx="1033272" cy="292608"/>
          </a:xfrm>
          <a:prstGeom prst="roundRect">
            <a:avLst/>
          </a:prstGeom>
          <a:solidFill>
            <a:srgbClr val="121B2B"/>
          </a:solidFill>
          <a:ln w="12700">
            <a:solidFill>
              <a:srgbClr val="334155"/>
            </a:solidFill>
            <a:prstDash val="solid"/>
          </a:ln>
        </p:spPr>
      </p:sp>
      <p:sp>
        <p:nvSpPr>
          <p:cNvPr id="8" name="Text 6"/>
          <p:cNvSpPr/>
          <p:nvPr/>
        </p:nvSpPr>
        <p:spPr>
          <a:xfrm>
            <a:off x="10607040" y="256032"/>
            <a:ext cx="1033272" cy="292608"/>
          </a:xfrm>
          <a:prstGeom prst="rect">
            <a:avLst/>
          </a:prstGeom>
          <a:noFill/>
          <a:ln/>
        </p:spPr>
        <p:txBody>
          <a:bodyPr wrap="square" rtlCol="0" anchor="ctr"/>
          <a:lstStyle/>
          <a:p>
            <a:pPr algn="ctr" indent="0" marL="0">
              <a:buNone/>
            </a:pPr>
            <a:r>
              <a:rPr lang="en-US" sz="1000" b="1" dirty="0">
                <a:solidFill>
                  <a:srgbClr val="FBBF24"/>
                </a:solidFill>
                <a:latin typeface="Segoe UI" pitchFamily="34" charset="0"/>
                <a:ea typeface="Segoe UI" pitchFamily="34" charset="-122"/>
                <a:cs typeface="Segoe UI" pitchFamily="34" charset="-120"/>
              </a:rPr>
              <a:t>15/16</a:t>
            </a:r>
            <a:endParaRPr lang="en-US" sz="1000" dirty="0"/>
          </a:p>
        </p:txBody>
      </p:sp>
      <p:sp>
        <p:nvSpPr>
          <p:cNvPr id="9" name="Shape 7"/>
          <p:cNvSpPr/>
          <p:nvPr/>
        </p:nvSpPr>
        <p:spPr>
          <a:xfrm>
            <a:off x="548640" y="6537960"/>
            <a:ext cx="11091672" cy="18288"/>
          </a:xfrm>
          <a:prstGeom prst="rect">
            <a:avLst/>
          </a:prstGeom>
          <a:solidFill>
            <a:srgbClr val="334155"/>
          </a:solidFill>
          <a:ln w="12700">
            <a:solidFill>
              <a:srgbClr val="334155"/>
            </a:solidFill>
            <a:prstDash val="solid"/>
          </a:ln>
        </p:spPr>
      </p:sp>
      <p:sp>
        <p:nvSpPr>
          <p:cNvPr id="10" name="Text 8"/>
          <p:cNvSpPr/>
          <p:nvPr/>
        </p:nvSpPr>
        <p:spPr>
          <a:xfrm>
            <a:off x="548640" y="6565392"/>
            <a:ext cx="7315200" cy="228600"/>
          </a:xfrm>
          <a:prstGeom prst="rect">
            <a:avLst/>
          </a:prstGeom>
          <a:noFill/>
          <a:ln/>
        </p:spPr>
        <p:txBody>
          <a:bodyPr wrap="square" rtlCol="0" anchor="ctr"/>
          <a:lstStyle/>
          <a:p>
            <a:pPr indent="0" marL="0">
              <a:buNone/>
            </a:pPr>
            <a:r>
              <a:rPr lang="en-US" sz="850" dirty="0">
                <a:solidFill>
                  <a:srgbClr val="64748B"/>
                </a:solidFill>
                <a:latin typeface="Segoe UI" pitchFamily="34" charset="0"/>
                <a:ea typeface="Segoe UI" pitchFamily="34" charset="-122"/>
                <a:cs typeface="Segoe UI" pitchFamily="34" charset="-120"/>
              </a:rPr>
              <a:t>AUTOCARE OFFICE HELPER (ACOH) — BÁO CÁO ĐỒ ÁN TỐT NGHIỆP CÔNG NGHỆ THÔNG TIN</a:t>
            </a:r>
            <a:endParaRPr lang="en-US" sz="850" dirty="0"/>
          </a:p>
        </p:txBody>
      </p:sp>
      <p:sp>
        <p:nvSpPr>
          <p:cNvPr id="11" name="Text 9"/>
          <p:cNvSpPr/>
          <p:nvPr/>
        </p:nvSpPr>
        <p:spPr>
          <a:xfrm>
            <a:off x="7863840" y="6565392"/>
            <a:ext cx="3776472" cy="228600"/>
          </a:xfrm>
          <a:prstGeom prst="rect">
            <a:avLst/>
          </a:prstGeom>
          <a:noFill/>
          <a:ln/>
        </p:spPr>
        <p:txBody>
          <a:bodyPr wrap="square" rtlCol="0" anchor="ctr"/>
          <a:lstStyle/>
          <a:p>
            <a:pPr algn="r" indent="0" marL="0">
              <a:buNone/>
            </a:pPr>
            <a:r>
              <a:rPr lang="en-US" sz="850" dirty="0">
                <a:solidFill>
                  <a:srgbClr val="64748B"/>
                </a:solidFill>
                <a:latin typeface="Segoe UI" pitchFamily="34" charset="0"/>
                <a:ea typeface="Segoe UI" pitchFamily="34" charset="-122"/>
                <a:cs typeface="Segoe UI" pitchFamily="34" charset="-120"/>
              </a:rPr>
              <a:t>HỆ THỐNG QUẢN LÝ LỊCH ĐĂNG KIỂM &amp; BẢO DƯỠNG XE THÔNG MINH</a:t>
            </a:r>
            <a:endParaRPr lang="en-US" sz="850" dirty="0"/>
          </a:p>
        </p:txBody>
      </p:sp>
      <p:sp>
        <p:nvSpPr>
          <p:cNvPr id="12" name="Shape 10"/>
          <p:cNvSpPr/>
          <p:nvPr/>
        </p:nvSpPr>
        <p:spPr>
          <a:xfrm>
            <a:off x="548640" y="1051560"/>
            <a:ext cx="5422392" cy="2423160"/>
          </a:xfrm>
          <a:prstGeom prst="roundRect">
            <a:avLst/>
          </a:prstGeom>
          <a:solidFill>
            <a:srgbClr val="121B2B"/>
          </a:solidFill>
          <a:ln w="19050">
            <a:solidFill>
              <a:srgbClr val="0284C7"/>
            </a:solidFill>
            <a:prstDash val="solid"/>
          </a:ln>
        </p:spPr>
      </p:sp>
      <p:sp>
        <p:nvSpPr>
          <p:cNvPr id="13" name="Shape 11"/>
          <p:cNvSpPr/>
          <p:nvPr/>
        </p:nvSpPr>
        <p:spPr>
          <a:xfrm>
            <a:off x="777240" y="1234440"/>
            <a:ext cx="548640" cy="320040"/>
          </a:xfrm>
          <a:prstGeom prst="roundRect">
            <a:avLst/>
          </a:prstGeom>
          <a:solidFill>
            <a:srgbClr val="0F172A"/>
          </a:solidFill>
          <a:ln w="12700">
            <a:solidFill>
              <a:srgbClr val="0284C7"/>
            </a:solidFill>
            <a:prstDash val="solid"/>
          </a:ln>
        </p:spPr>
      </p:sp>
      <p:sp>
        <p:nvSpPr>
          <p:cNvPr id="14" name="Text 12"/>
          <p:cNvSpPr/>
          <p:nvPr/>
        </p:nvSpPr>
        <p:spPr>
          <a:xfrm>
            <a:off x="777240" y="1234440"/>
            <a:ext cx="548640" cy="320040"/>
          </a:xfrm>
          <a:prstGeom prst="rect">
            <a:avLst/>
          </a:prstGeom>
          <a:noFill/>
          <a:ln/>
        </p:spPr>
        <p:txBody>
          <a:bodyPr wrap="square" rtlCol="0" anchor="ctr"/>
          <a:lstStyle/>
          <a:p>
            <a:pPr algn="ctr" indent="0" marL="0">
              <a:buNone/>
            </a:pPr>
            <a:r>
              <a:rPr lang="en-US" sz="1100" b="1" dirty="0">
                <a:solidFill>
                  <a:srgbClr val="0284C7"/>
                </a:solidFill>
                <a:latin typeface="Segoe UI" pitchFamily="34" charset="0"/>
                <a:ea typeface="Segoe UI" pitchFamily="34" charset="-122"/>
                <a:cs typeface="Segoe UI" pitchFamily="34" charset="-120"/>
              </a:rPr>
              <a:t>01</a:t>
            </a:r>
            <a:endParaRPr lang="en-US" sz="1100" dirty="0"/>
          </a:p>
        </p:txBody>
      </p:sp>
      <p:sp>
        <p:nvSpPr>
          <p:cNvPr id="15" name="Text 13"/>
          <p:cNvSpPr/>
          <p:nvPr/>
        </p:nvSpPr>
        <p:spPr>
          <a:xfrm>
            <a:off x="1417320" y="1234440"/>
            <a:ext cx="4297680" cy="32004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CỔNG TIN NHẮN ZALO ZNS &amp; SMS BRANDNAME</a:t>
            </a:r>
            <a:endParaRPr lang="en-US" sz="1150" dirty="0"/>
          </a:p>
        </p:txBody>
      </p:sp>
      <p:sp>
        <p:nvSpPr>
          <p:cNvPr id="16" name="Shape 14"/>
          <p:cNvSpPr/>
          <p:nvPr/>
        </p:nvSpPr>
        <p:spPr>
          <a:xfrm>
            <a:off x="777240" y="1645920"/>
            <a:ext cx="4937760" cy="0"/>
          </a:xfrm>
          <a:prstGeom prst="line">
            <a:avLst/>
          </a:prstGeom>
          <a:noFill/>
          <a:ln w="12700">
            <a:solidFill>
              <a:srgbClr val="334155"/>
            </a:solidFill>
            <a:prstDash val="solid"/>
          </a:ln>
        </p:spPr>
      </p:sp>
      <p:sp>
        <p:nvSpPr>
          <p:cNvPr id="17" name="Text 15"/>
          <p:cNvSpPr/>
          <p:nvPr/>
        </p:nvSpPr>
        <p:spPr>
          <a:xfrm>
            <a:off x="777240" y="1783080"/>
            <a:ext cx="4937760" cy="150876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Tích hợp Zalo Notification Service (ZNS) và SMS thương hiệu gửi thông báo trực tiếp đến số điện thoại chủ xe, đảm bảo không bỏ lỡ cảnh báo ngay cả khi không mở ứng dụng.</a:t>
            </a:r>
            <a:endParaRPr lang="en-US" sz="1050" dirty="0"/>
          </a:p>
        </p:txBody>
      </p:sp>
      <p:sp>
        <p:nvSpPr>
          <p:cNvPr id="18" name="Shape 16"/>
          <p:cNvSpPr/>
          <p:nvPr/>
        </p:nvSpPr>
        <p:spPr>
          <a:xfrm>
            <a:off x="6217920" y="1051560"/>
            <a:ext cx="5422392" cy="2423160"/>
          </a:xfrm>
          <a:prstGeom prst="roundRect">
            <a:avLst/>
          </a:prstGeom>
          <a:solidFill>
            <a:srgbClr val="121B2B"/>
          </a:solidFill>
          <a:ln w="19050">
            <a:solidFill>
              <a:srgbClr val="8B5CF6"/>
            </a:solidFill>
            <a:prstDash val="solid"/>
          </a:ln>
        </p:spPr>
      </p:sp>
      <p:sp>
        <p:nvSpPr>
          <p:cNvPr id="19" name="Shape 17"/>
          <p:cNvSpPr/>
          <p:nvPr/>
        </p:nvSpPr>
        <p:spPr>
          <a:xfrm>
            <a:off x="6446520" y="1234440"/>
            <a:ext cx="548640" cy="320040"/>
          </a:xfrm>
          <a:prstGeom prst="roundRect">
            <a:avLst/>
          </a:prstGeom>
          <a:solidFill>
            <a:srgbClr val="0F172A"/>
          </a:solidFill>
          <a:ln w="12700">
            <a:solidFill>
              <a:srgbClr val="8B5CF6"/>
            </a:solidFill>
            <a:prstDash val="solid"/>
          </a:ln>
        </p:spPr>
      </p:sp>
      <p:sp>
        <p:nvSpPr>
          <p:cNvPr id="20" name="Text 18"/>
          <p:cNvSpPr/>
          <p:nvPr/>
        </p:nvSpPr>
        <p:spPr>
          <a:xfrm>
            <a:off x="6446520" y="1234440"/>
            <a:ext cx="548640" cy="320040"/>
          </a:xfrm>
          <a:prstGeom prst="rect">
            <a:avLst/>
          </a:prstGeom>
          <a:noFill/>
          <a:ln/>
        </p:spPr>
        <p:txBody>
          <a:bodyPr wrap="square" rtlCol="0" anchor="ctr"/>
          <a:lstStyle/>
          <a:p>
            <a:pPr algn="ctr" indent="0" marL="0">
              <a:buNone/>
            </a:pPr>
            <a:r>
              <a:rPr lang="en-US" sz="1100" b="1" dirty="0">
                <a:solidFill>
                  <a:srgbClr val="8B5CF6"/>
                </a:solidFill>
                <a:latin typeface="Segoe UI" pitchFamily="34" charset="0"/>
                <a:ea typeface="Segoe UI" pitchFamily="34" charset="-122"/>
                <a:cs typeface="Segoe UI" pitchFamily="34" charset="-120"/>
              </a:rPr>
              <a:t>02</a:t>
            </a:r>
            <a:endParaRPr lang="en-US" sz="1100" dirty="0"/>
          </a:p>
        </p:txBody>
      </p:sp>
      <p:sp>
        <p:nvSpPr>
          <p:cNvPr id="21" name="Text 19"/>
          <p:cNvSpPr/>
          <p:nvPr/>
        </p:nvSpPr>
        <p:spPr>
          <a:xfrm>
            <a:off x="7086600" y="1234440"/>
            <a:ext cx="4297680" cy="32004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AI OCR BÓC TÁCH SỔ ĐĂNG KIỂM TỰ ĐỘNG</a:t>
            </a:r>
            <a:endParaRPr lang="en-US" sz="1150" dirty="0"/>
          </a:p>
        </p:txBody>
      </p:sp>
      <p:sp>
        <p:nvSpPr>
          <p:cNvPr id="22" name="Shape 20"/>
          <p:cNvSpPr/>
          <p:nvPr/>
        </p:nvSpPr>
        <p:spPr>
          <a:xfrm>
            <a:off x="6446520" y="1645920"/>
            <a:ext cx="4937760" cy="0"/>
          </a:xfrm>
          <a:prstGeom prst="line">
            <a:avLst/>
          </a:prstGeom>
          <a:noFill/>
          <a:ln w="12700">
            <a:solidFill>
              <a:srgbClr val="334155"/>
            </a:solidFill>
            <a:prstDash val="solid"/>
          </a:ln>
        </p:spPr>
      </p:sp>
      <p:sp>
        <p:nvSpPr>
          <p:cNvPr id="23" name="Text 21"/>
          <p:cNvSpPr/>
          <p:nvPr/>
        </p:nvSpPr>
        <p:spPr>
          <a:xfrm>
            <a:off x="6446520" y="1783080"/>
            <a:ext cx="4937760" cy="150876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Ứng dụng AI Vision bóc tách toàn bộ thông số kỹ thuật (Số quản lý, Biển số, Số khung VIN, Số máy, Ngày hết hạn kiểm định) trực tiếp từ ảnh chụp Sổ đăng kiểm/Giấy chứng nhận.</a:t>
            </a:r>
            <a:endParaRPr lang="en-US" sz="1050" dirty="0"/>
          </a:p>
        </p:txBody>
      </p:sp>
      <p:sp>
        <p:nvSpPr>
          <p:cNvPr id="24" name="Shape 22"/>
          <p:cNvSpPr/>
          <p:nvPr/>
        </p:nvSpPr>
        <p:spPr>
          <a:xfrm>
            <a:off x="548640" y="3657600"/>
            <a:ext cx="5422392" cy="2423160"/>
          </a:xfrm>
          <a:prstGeom prst="roundRect">
            <a:avLst/>
          </a:prstGeom>
          <a:solidFill>
            <a:srgbClr val="121B2B"/>
          </a:solidFill>
          <a:ln w="19050">
            <a:solidFill>
              <a:srgbClr val="F59E0B"/>
            </a:solidFill>
            <a:prstDash val="solid"/>
          </a:ln>
        </p:spPr>
      </p:sp>
      <p:sp>
        <p:nvSpPr>
          <p:cNvPr id="25" name="Shape 23"/>
          <p:cNvSpPr/>
          <p:nvPr/>
        </p:nvSpPr>
        <p:spPr>
          <a:xfrm>
            <a:off x="777240" y="3840480"/>
            <a:ext cx="548640" cy="320040"/>
          </a:xfrm>
          <a:prstGeom prst="roundRect">
            <a:avLst/>
          </a:prstGeom>
          <a:solidFill>
            <a:srgbClr val="0F172A"/>
          </a:solidFill>
          <a:ln w="12700">
            <a:solidFill>
              <a:srgbClr val="F59E0B"/>
            </a:solidFill>
            <a:prstDash val="solid"/>
          </a:ln>
        </p:spPr>
      </p:sp>
      <p:sp>
        <p:nvSpPr>
          <p:cNvPr id="26" name="Text 24"/>
          <p:cNvSpPr/>
          <p:nvPr/>
        </p:nvSpPr>
        <p:spPr>
          <a:xfrm>
            <a:off x="777240" y="3840480"/>
            <a:ext cx="548640" cy="320040"/>
          </a:xfrm>
          <a:prstGeom prst="rect">
            <a:avLst/>
          </a:prstGeom>
          <a:noFill/>
          <a:ln/>
        </p:spPr>
        <p:txBody>
          <a:bodyPr wrap="square" rtlCol="0" anchor="ctr"/>
          <a:lstStyle/>
          <a:p>
            <a:pPr algn="ctr" indent="0" marL="0">
              <a:buNone/>
            </a:pPr>
            <a:r>
              <a:rPr lang="en-US" sz="1100" b="1" dirty="0">
                <a:solidFill>
                  <a:srgbClr val="F59E0B"/>
                </a:solidFill>
                <a:latin typeface="Segoe UI" pitchFamily="34" charset="0"/>
                <a:ea typeface="Segoe UI" pitchFamily="34" charset="-122"/>
                <a:cs typeface="Segoe UI" pitchFamily="34" charset="-120"/>
              </a:rPr>
              <a:t>03</a:t>
            </a:r>
            <a:endParaRPr lang="en-US" sz="1100" dirty="0"/>
          </a:p>
        </p:txBody>
      </p:sp>
      <p:sp>
        <p:nvSpPr>
          <p:cNvPr id="27" name="Text 25"/>
          <p:cNvSpPr/>
          <p:nvPr/>
        </p:nvSpPr>
        <p:spPr>
          <a:xfrm>
            <a:off x="1417320" y="3840480"/>
            <a:ext cx="4297680" cy="32004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KẾT NỐI PHẦN CỨNG IOT OBD-II / TELEMATICS</a:t>
            </a:r>
            <a:endParaRPr lang="en-US" sz="1150" dirty="0"/>
          </a:p>
        </p:txBody>
      </p:sp>
      <p:sp>
        <p:nvSpPr>
          <p:cNvPr id="28" name="Shape 26"/>
          <p:cNvSpPr/>
          <p:nvPr/>
        </p:nvSpPr>
        <p:spPr>
          <a:xfrm>
            <a:off x="777240" y="4251960"/>
            <a:ext cx="4937760" cy="0"/>
          </a:xfrm>
          <a:prstGeom prst="line">
            <a:avLst/>
          </a:prstGeom>
          <a:noFill/>
          <a:ln w="12700">
            <a:solidFill>
              <a:srgbClr val="334155"/>
            </a:solidFill>
            <a:prstDash val="solid"/>
          </a:ln>
        </p:spPr>
      </p:sp>
      <p:sp>
        <p:nvSpPr>
          <p:cNvPr id="29" name="Text 27"/>
          <p:cNvSpPr/>
          <p:nvPr/>
        </p:nvSpPr>
        <p:spPr>
          <a:xfrm>
            <a:off x="777240" y="4389120"/>
            <a:ext cx="4937760" cy="150876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Cắm thiết bị OBD2 hoặc GPS trên xe để tự động truyền số Odometer thực tế và đọc mã lỗi phần cứng động cơ (DTC Codes) về máy chủ theo thời gian thực qua giao thức MQTT.</a:t>
            </a:r>
            <a:endParaRPr lang="en-US" sz="1050" dirty="0"/>
          </a:p>
        </p:txBody>
      </p:sp>
      <p:sp>
        <p:nvSpPr>
          <p:cNvPr id="30" name="Shape 28"/>
          <p:cNvSpPr/>
          <p:nvPr/>
        </p:nvSpPr>
        <p:spPr>
          <a:xfrm>
            <a:off x="6217920" y="3657600"/>
            <a:ext cx="5422392" cy="2423160"/>
          </a:xfrm>
          <a:prstGeom prst="roundRect">
            <a:avLst/>
          </a:prstGeom>
          <a:solidFill>
            <a:srgbClr val="121B2B"/>
          </a:solidFill>
          <a:ln w="19050">
            <a:solidFill>
              <a:srgbClr val="10B981"/>
            </a:solidFill>
            <a:prstDash val="solid"/>
          </a:ln>
        </p:spPr>
      </p:sp>
      <p:sp>
        <p:nvSpPr>
          <p:cNvPr id="31" name="Shape 29"/>
          <p:cNvSpPr/>
          <p:nvPr/>
        </p:nvSpPr>
        <p:spPr>
          <a:xfrm>
            <a:off x="6446520" y="3840480"/>
            <a:ext cx="548640" cy="320040"/>
          </a:xfrm>
          <a:prstGeom prst="roundRect">
            <a:avLst/>
          </a:prstGeom>
          <a:solidFill>
            <a:srgbClr val="0F172A"/>
          </a:solidFill>
          <a:ln w="12700">
            <a:solidFill>
              <a:srgbClr val="10B981"/>
            </a:solidFill>
            <a:prstDash val="solid"/>
          </a:ln>
        </p:spPr>
      </p:sp>
      <p:sp>
        <p:nvSpPr>
          <p:cNvPr id="32" name="Text 30"/>
          <p:cNvSpPr/>
          <p:nvPr/>
        </p:nvSpPr>
        <p:spPr>
          <a:xfrm>
            <a:off x="6446520" y="3840480"/>
            <a:ext cx="548640" cy="320040"/>
          </a:xfrm>
          <a:prstGeom prst="rect">
            <a:avLst/>
          </a:prstGeom>
          <a:noFill/>
          <a:ln/>
        </p:spPr>
        <p:txBody>
          <a:bodyPr wrap="square" rtlCol="0" anchor="ctr"/>
          <a:lstStyle/>
          <a:p>
            <a:pPr algn="ctr" indent="0" marL="0">
              <a:buNone/>
            </a:pPr>
            <a:r>
              <a:rPr lang="en-US" sz="1100" b="1" dirty="0">
                <a:solidFill>
                  <a:srgbClr val="10B981"/>
                </a:solidFill>
                <a:latin typeface="Segoe UI" pitchFamily="34" charset="0"/>
                <a:ea typeface="Segoe UI" pitchFamily="34" charset="-122"/>
                <a:cs typeface="Segoe UI" pitchFamily="34" charset="-120"/>
              </a:rPr>
              <a:t>04</a:t>
            </a:r>
            <a:endParaRPr lang="en-US" sz="1100" dirty="0"/>
          </a:p>
        </p:txBody>
      </p:sp>
      <p:sp>
        <p:nvSpPr>
          <p:cNvPr id="33" name="Text 31"/>
          <p:cNvSpPr/>
          <p:nvPr/>
        </p:nvSpPr>
        <p:spPr>
          <a:xfrm>
            <a:off x="7086600" y="3840480"/>
            <a:ext cx="4297680" cy="320040"/>
          </a:xfrm>
          <a:prstGeom prst="rect">
            <a:avLst/>
          </a:prstGeom>
          <a:noFill/>
          <a:ln/>
        </p:spPr>
        <p:txBody>
          <a:bodyPr wrap="square" rtlCol="0" anchor="ctr"/>
          <a:lstStyle/>
          <a:p>
            <a:pPr indent="0" marL="0">
              <a:buNone/>
            </a:pPr>
            <a:r>
              <a:rPr lang="en-US" sz="1150" b="1" dirty="0">
                <a:solidFill>
                  <a:srgbClr val="FFFFFF"/>
                </a:solidFill>
                <a:latin typeface="Segoe UI" pitchFamily="34" charset="0"/>
                <a:ea typeface="Segoe UI" pitchFamily="34" charset="-122"/>
                <a:cs typeface="Segoe UI" pitchFamily="34" charset="-120"/>
              </a:rPr>
              <a:t>ỨNG DỤNG DI ĐỘNG NATIVE APP (IOS &amp; ANDROID)</a:t>
            </a:r>
            <a:endParaRPr lang="en-US" sz="1150" dirty="0"/>
          </a:p>
        </p:txBody>
      </p:sp>
      <p:sp>
        <p:nvSpPr>
          <p:cNvPr id="34" name="Shape 32"/>
          <p:cNvSpPr/>
          <p:nvPr/>
        </p:nvSpPr>
        <p:spPr>
          <a:xfrm>
            <a:off x="6446520" y="4251960"/>
            <a:ext cx="4937760" cy="0"/>
          </a:xfrm>
          <a:prstGeom prst="line">
            <a:avLst/>
          </a:prstGeom>
          <a:noFill/>
          <a:ln w="12700">
            <a:solidFill>
              <a:srgbClr val="334155"/>
            </a:solidFill>
            <a:prstDash val="solid"/>
          </a:ln>
        </p:spPr>
      </p:sp>
      <p:sp>
        <p:nvSpPr>
          <p:cNvPr id="35" name="Text 33"/>
          <p:cNvSpPr/>
          <p:nvPr/>
        </p:nvSpPr>
        <p:spPr>
          <a:xfrm>
            <a:off x="6446520" y="4389120"/>
            <a:ext cx="4937760" cy="1508760"/>
          </a:xfrm>
          <a:prstGeom prst="rect">
            <a:avLst/>
          </a:prstGeom>
          <a:noFill/>
          <a:ln/>
        </p:spPr>
        <p:txBody>
          <a:bodyPr wrap="square" rtlCol="0" anchor="ctr"/>
          <a:lstStyle/>
          <a:p>
            <a:pPr indent="0" marL="0">
              <a:lnSpc>
                <a:spcPts val="1600"/>
              </a:lnSpc>
              <a:buNone/>
            </a:pPr>
            <a:r>
              <a:rPr lang="en-US" sz="1050" dirty="0">
                <a:solidFill>
                  <a:srgbClr val="E2E8F0"/>
                </a:solidFill>
                <a:latin typeface="Segoe UI" pitchFamily="34" charset="0"/>
                <a:ea typeface="Segoe UI" pitchFamily="34" charset="-122"/>
                <a:cs typeface="Segoe UI" pitchFamily="34" charset="-120"/>
              </a:rPr>
              <a:t>Đóng gói ứng dụng Native trên nền tảng React Native / Flutter phát hành trên App Store &amp; Google Play Store kèm hệ thống thông báo đẩy nền Firebase Cloud Messaging (FCM).</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7"/>
        </a:solidFill>
      </p:bgPr>
    </p:bg>
    <p:spTree>
      <p:nvGrpSpPr>
        <p:cNvPr id="1" name=""/>
        <p:cNvGrpSpPr/>
        <p:nvPr/>
      </p:nvGrpSpPr>
      <p:grpSpPr>
        <a:xfrm>
          <a:off x="0" y="0"/>
          <a:ext cx="0" cy="0"/>
          <a:chOff x="0" y="0"/>
          <a:chExt cx="0" cy="0"/>
        </a:xfrm>
      </p:grpSpPr>
      <p:sp>
        <p:nvSpPr>
          <p:cNvPr id="2" name="Shape 0"/>
          <p:cNvSpPr/>
          <p:nvPr/>
        </p:nvSpPr>
        <p:spPr>
          <a:xfrm>
            <a:off x="0" y="0"/>
            <a:ext cx="12188952" cy="73152"/>
          </a:xfrm>
          <a:prstGeom prst="rect">
            <a:avLst/>
          </a:prstGeom>
          <a:solidFill>
            <a:srgbClr val="F59E0B"/>
          </a:solidFill>
          <a:ln w="12700">
            <a:solidFill>
              <a:srgbClr val="F59E0B"/>
            </a:solidFill>
            <a:prstDash val="solid"/>
          </a:ln>
        </p:spPr>
      </p:sp>
      <p:sp>
        <p:nvSpPr>
          <p:cNvPr id="3" name="Shape 1"/>
          <p:cNvSpPr/>
          <p:nvPr/>
        </p:nvSpPr>
        <p:spPr>
          <a:xfrm>
            <a:off x="4261104" y="822960"/>
            <a:ext cx="3657600" cy="365760"/>
          </a:xfrm>
          <a:prstGeom prst="roundRect">
            <a:avLst/>
          </a:prstGeom>
          <a:solidFill>
            <a:srgbClr val="172554"/>
          </a:solidFill>
          <a:ln w="19050">
            <a:solidFill>
              <a:srgbClr val="06B6D4"/>
            </a:solidFill>
            <a:prstDash val="solid"/>
          </a:ln>
        </p:spPr>
      </p:sp>
      <p:sp>
        <p:nvSpPr>
          <p:cNvPr id="4" name="Text 2"/>
          <p:cNvSpPr/>
          <p:nvPr/>
        </p:nvSpPr>
        <p:spPr>
          <a:xfrm>
            <a:off x="4261104" y="822960"/>
            <a:ext cx="3657600" cy="365760"/>
          </a:xfrm>
          <a:prstGeom prst="rect">
            <a:avLst/>
          </a:prstGeom>
          <a:noFill/>
          <a:ln/>
        </p:spPr>
        <p:txBody>
          <a:bodyPr wrap="square" rtlCol="0" anchor="ctr"/>
          <a:lstStyle/>
          <a:p>
            <a:pPr algn="ctr" indent="0" marL="0">
              <a:buNone/>
            </a:pPr>
            <a:r>
              <a:rPr lang="en-US" sz="1100" b="1" dirty="0">
                <a:solidFill>
                  <a:srgbClr val="38BDF8"/>
                </a:solidFill>
                <a:latin typeface="Segoe UI" pitchFamily="34" charset="0"/>
                <a:ea typeface="Segoe UI" pitchFamily="34" charset="-122"/>
                <a:cs typeface="Segoe UI" pitchFamily="34" charset="-120"/>
              </a:rPr>
              <a:t>✦ KẾT THÚC PHẦN TRÌNH BÀY ✦</a:t>
            </a:r>
            <a:endParaRPr lang="en-US" sz="1100" dirty="0"/>
          </a:p>
        </p:txBody>
      </p:sp>
      <p:sp>
        <p:nvSpPr>
          <p:cNvPr id="5" name="Text 3"/>
          <p:cNvSpPr/>
          <p:nvPr/>
        </p:nvSpPr>
        <p:spPr>
          <a:xfrm>
            <a:off x="457200" y="1417320"/>
            <a:ext cx="11274552" cy="73152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CHÂN THÀNH CẢM ƠN QUÝ THẦY CÔ</a:t>
            </a:r>
            <a:endParaRPr lang="en-US" sz="3000" dirty="0"/>
          </a:p>
        </p:txBody>
      </p:sp>
      <p:sp>
        <p:nvSpPr>
          <p:cNvPr id="6" name="Text 4"/>
          <p:cNvSpPr/>
          <p:nvPr/>
        </p:nvSpPr>
        <p:spPr>
          <a:xfrm>
            <a:off x="914400" y="2148840"/>
            <a:ext cx="10360152" cy="411480"/>
          </a:xfrm>
          <a:prstGeom prst="rect">
            <a:avLst/>
          </a:prstGeom>
          <a:noFill/>
          <a:ln/>
        </p:spPr>
        <p:txBody>
          <a:bodyPr wrap="square" rtlCol="0" anchor="ctr"/>
          <a:lstStyle/>
          <a:p>
            <a:pPr algn="ctr" indent="0" marL="0">
              <a:buNone/>
            </a:pPr>
            <a:r>
              <a:rPr lang="en-US" sz="1400" i="1" dirty="0">
                <a:solidFill>
                  <a:srgbClr val="94A3B8"/>
                </a:solidFill>
                <a:latin typeface="Segoe UI" pitchFamily="34" charset="0"/>
                <a:ea typeface="Segoe UI" pitchFamily="34" charset="-122"/>
                <a:cs typeface="Segoe UI" pitchFamily="34" charset="-120"/>
              </a:rPr>
              <a:t>Trong Hội đồng chấm bảo vệ Đồ án Tốt nghiệp đã chú ý theo dõi!</a:t>
            </a:r>
            <a:endParaRPr lang="en-US" sz="1400" dirty="0"/>
          </a:p>
        </p:txBody>
      </p:sp>
      <p:sp>
        <p:nvSpPr>
          <p:cNvPr id="7" name="Shape 5"/>
          <p:cNvSpPr/>
          <p:nvPr/>
        </p:nvSpPr>
        <p:spPr>
          <a:xfrm>
            <a:off x="2432304" y="2926080"/>
            <a:ext cx="7315200" cy="3108960"/>
          </a:xfrm>
          <a:prstGeom prst="roundRect">
            <a:avLst/>
          </a:prstGeom>
          <a:solidFill>
            <a:srgbClr val="121B2B"/>
          </a:solidFill>
          <a:ln w="19050">
            <a:solidFill>
              <a:srgbClr val="F59E0B"/>
            </a:solidFill>
            <a:prstDash val="solid"/>
          </a:ln>
        </p:spPr>
      </p:sp>
      <p:sp>
        <p:nvSpPr>
          <p:cNvPr id="8" name="Shape 6"/>
          <p:cNvSpPr/>
          <p:nvPr/>
        </p:nvSpPr>
        <p:spPr>
          <a:xfrm>
            <a:off x="3346704" y="3200400"/>
            <a:ext cx="5486400" cy="411480"/>
          </a:xfrm>
          <a:prstGeom prst="roundRect">
            <a:avLst/>
          </a:prstGeom>
          <a:solidFill>
            <a:srgbClr val="172554"/>
          </a:solidFill>
          <a:ln w="19050">
            <a:solidFill>
              <a:srgbClr val="F59E0B"/>
            </a:solidFill>
            <a:prstDash val="solid"/>
          </a:ln>
        </p:spPr>
      </p:sp>
      <p:sp>
        <p:nvSpPr>
          <p:cNvPr id="9" name="Text 7"/>
          <p:cNvSpPr/>
          <p:nvPr/>
        </p:nvSpPr>
        <p:spPr>
          <a:xfrm>
            <a:off x="3346704" y="3200400"/>
            <a:ext cx="5486400" cy="411480"/>
          </a:xfrm>
          <a:prstGeom prst="rect">
            <a:avLst/>
          </a:prstGeom>
          <a:noFill/>
          <a:ln/>
        </p:spPr>
        <p:txBody>
          <a:bodyPr wrap="square" rtlCol="0" anchor="ctr"/>
          <a:lstStyle/>
          <a:p>
            <a:pPr algn="ctr" indent="0" marL="0">
              <a:buNone/>
            </a:pPr>
            <a:r>
              <a:rPr lang="en-US" sz="1300" b="1" dirty="0">
                <a:solidFill>
                  <a:srgbClr val="FBBF24"/>
                </a:solidFill>
                <a:latin typeface="Segoe UI" pitchFamily="34" charset="0"/>
                <a:ea typeface="Segoe UI" pitchFamily="34" charset="-122"/>
                <a:cs typeface="Segoe UI" pitchFamily="34" charset="-120"/>
              </a:rPr>
              <a:t>PHIÊN HỎI ĐÁP &amp; ĐÓNG GÓP Ý KIẾN (Q&amp;A)</a:t>
            </a:r>
            <a:endParaRPr lang="en-US" sz="1300" dirty="0"/>
          </a:p>
        </p:txBody>
      </p:sp>
      <p:sp>
        <p:nvSpPr>
          <p:cNvPr id="10" name="Text 8"/>
          <p:cNvSpPr/>
          <p:nvPr/>
        </p:nvSpPr>
        <p:spPr>
          <a:xfrm>
            <a:off x="2743200" y="3840480"/>
            <a:ext cx="6702552" cy="1920240"/>
          </a:xfrm>
          <a:prstGeom prst="rect">
            <a:avLst/>
          </a:prstGeom>
          <a:noFill/>
          <a:ln/>
        </p:spPr>
        <p:txBody>
          <a:bodyPr wrap="square" rtlCol="0" anchor="ctr"/>
          <a:lstStyle/>
          <a:p>
            <a:pPr algn="ctr" indent="0" marL="0">
              <a:lnSpc>
                <a:spcPts val="2200"/>
              </a:lnSpc>
              <a:buNone/>
            </a:pPr>
            <a:r>
              <a:rPr lang="en-US" sz="1250" dirty="0">
                <a:solidFill>
                  <a:srgbClr val="E2E8F0"/>
                </a:solidFill>
                <a:latin typeface="Segoe UI" pitchFamily="34" charset="0"/>
                <a:ea typeface="Segoe UI" pitchFamily="34" charset="-122"/>
                <a:cs typeface="Segoe UI" pitchFamily="34" charset="-120"/>
              </a:rPr>
              <a:t>Em xin trân trọng lắng nghe và tiếp thu những nhận xét, đánh giá quý báu</a:t>
            </a:r>
            <a:endParaRPr lang="en-US" sz="1250" dirty="0"/>
          </a:p>
          <a:p>
            <a:pPr algn="ctr" indent="0" marL="0">
              <a:lnSpc>
                <a:spcPts val="2200"/>
              </a:lnSpc>
              <a:buNone/>
            </a:pPr>
            <a:r>
              <a:rPr lang="en-US" sz="1250" dirty="0">
                <a:solidFill>
                  <a:srgbClr val="E2E8F0"/>
                </a:solidFill>
                <a:latin typeface="Segoe UI" pitchFamily="34" charset="0"/>
                <a:ea typeface="Segoe UI" pitchFamily="34" charset="-122"/>
                <a:cs typeface="Segoe UI" pitchFamily="34" charset="-120"/>
              </a:rPr>
              <a:t>cũng như các câu hỏi phản biện từ Quý Thầy/Cô để hoàn thiện đề tài.</a:t>
            </a:r>
            <a:endParaRPr lang="en-US" sz="1250" dirty="0"/>
          </a:p>
          <a:p>
            <a:pPr algn="ctr" indent="0" marL="0">
              <a:lnSpc>
                <a:spcPts val="2200"/>
              </a:lnSpc>
              <a:buNone/>
            </a:pPr>
            <a:endParaRPr lang="en-US" sz="1250" dirty="0"/>
          </a:p>
          <a:p>
            <a:pPr algn="ctr" indent="0" marL="0">
              <a:lnSpc>
                <a:spcPts val="2200"/>
              </a:lnSpc>
              <a:buNone/>
            </a:pPr>
            <a:r>
              <a:rPr lang="en-US" sz="1250" dirty="0">
                <a:solidFill>
                  <a:srgbClr val="E2E8F0"/>
                </a:solidFill>
                <a:latin typeface="Segoe UI" pitchFamily="34" charset="0"/>
                <a:ea typeface="Segoe UI" pitchFamily="34" charset="-122"/>
                <a:cs typeface="Segoe UI" pitchFamily="34" charset="-120"/>
              </a:rPr>
              <a:t>SẴN SÀNG TIẾN HÀNH DEMO TRỰC TIẾP HỆ THỐNG THEO YÊU CẦU!</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Hội đồng Chấm Bảo vệ Đồ án Tốt nghiệp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TỐT NGHIỆP - AUTOCARE OFFICE HELPER (ACOH)</dc:title>
  <dc:subject>Hệ thống Quản lý Lịch Đăng kiểm, Bảo dưỡng và Bảo hiểm Phương tiện Thông minh</dc:subject>
  <dc:creator>Sinh viên thực hiện Đồ án</dc:creator>
  <cp:lastModifiedBy>Sinh viên thực hiện Đồ án</cp:lastModifiedBy>
  <cp:revision>1</cp:revision>
  <dcterms:created xsi:type="dcterms:W3CDTF">2026-08-28T14:55:18Z</dcterms:created>
  <dcterms:modified xsi:type="dcterms:W3CDTF">2026-08-28T14:55:18Z</dcterms:modified>
</cp:coreProperties>
</file>