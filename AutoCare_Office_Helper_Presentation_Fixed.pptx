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91"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Đóng góp công việc</c:v>
                </c:pt>
              </c:strCache>
            </c:strRef>
          </c:tx>
          <c:spPr>
            <a:solidFill>
              <a:schemeClr val="accent1"/>
            </a:solidFill>
            <a:ln w="9525" cap="flat">
              <a:solidFill>
                <a:srgbClr val="F9F9F9"/>
              </a:solidFill>
              <a:prstDash val="solid"/>
              <a:round/>
            </a:ln>
            <a:effectLst/>
          </c:spPr>
          <c:dPt>
            <c:idx val="0"/>
            <c:bubble3D val="0"/>
            <c:spPr>
              <a:solidFill>
                <a:srgbClr val="3B82F6"/>
              </a:solidFill>
              <a:effectLst/>
            </c:spPr>
            <c:extLst>
              <c:ext xmlns:c16="http://schemas.microsoft.com/office/drawing/2014/chart" uri="{C3380CC4-5D6E-409C-BE32-E72D297353CC}">
                <c16:uniqueId val="{00000001-28A6-4996-B72B-B13A046B3042}"/>
              </c:ext>
            </c:extLst>
          </c:dPt>
          <c:dPt>
            <c:idx val="1"/>
            <c:bubble3D val="0"/>
            <c:spPr>
              <a:solidFill>
                <a:srgbClr val="10B981"/>
              </a:solidFill>
              <a:effectLst/>
            </c:spPr>
            <c:extLst>
              <c:ext xmlns:c16="http://schemas.microsoft.com/office/drawing/2014/chart" uri="{C3380CC4-5D6E-409C-BE32-E72D297353CC}">
                <c16:uniqueId val="{00000003-28A6-4996-B72B-B13A046B3042}"/>
              </c:ext>
            </c:extLst>
          </c:dPt>
          <c:dLbls>
            <c:dLbl>
              <c:idx val="0"/>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8A6-4996-B72B-B13A046B3042}"/>
                </c:ext>
              </c:extLst>
            </c:dLbl>
            <c:dLbl>
              <c:idx val="1"/>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8A6-4996-B72B-B13A046B3042}"/>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Nguyễn Văn Khách Hàng (Backend &amp; DB &amp; AI)</c:v>
                </c:pt>
                <c:pt idx="1">
                  <c:v>Trần Thị Học Viên (Frontend &amp; UX &amp; Test)</c:v>
                </c:pt>
              </c:strCache>
            </c:strRef>
          </c:cat>
          <c:val>
            <c:numRef>
              <c:f>Sheet1!$B$2:$B$3</c:f>
              <c:numCache>
                <c:formatCode>General</c:formatCode>
                <c:ptCount val="2"/>
                <c:pt idx="0">
                  <c:v>50</c:v>
                </c:pt>
                <c:pt idx="1">
                  <c:v>50</c:v>
                </c:pt>
              </c:numCache>
            </c:numRef>
          </c:val>
          <c:extLst>
            <c:ext xmlns:c16="http://schemas.microsoft.com/office/drawing/2014/chart" uri="{C3380CC4-5D6E-409C-BE32-E72D297353CC}">
              <c16:uniqueId val="{00000004-28A6-4996-B72B-B13A046B3042}"/>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a:solidFill>
                <a:srgbClr val="FFFFFF"/>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7957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175504" y="914400"/>
            <a:ext cx="1828800" cy="73152"/>
          </a:xfrm>
          <a:prstGeom prst="rect">
            <a:avLst/>
          </a:prstGeom>
          <a:solidFill>
            <a:srgbClr val="F59E0B"/>
          </a:solidFill>
          <a:ln w="12700">
            <a:solidFill>
              <a:srgbClr val="F59E0B"/>
            </a:solidFill>
            <a:prstDash val="solid"/>
          </a:ln>
        </p:spPr>
      </p:sp>
      <p:sp>
        <p:nvSpPr>
          <p:cNvPr id="3" name="Text 1"/>
          <p:cNvSpPr/>
          <p:nvPr/>
        </p:nvSpPr>
        <p:spPr>
          <a:xfrm>
            <a:off x="457200" y="1188720"/>
            <a:ext cx="11274552" cy="365760"/>
          </a:xfrm>
          <a:prstGeom prst="rect">
            <a:avLst/>
          </a:prstGeom>
          <a:noFill/>
          <a:ln/>
        </p:spPr>
        <p:txBody>
          <a:bodyPr wrap="square" rtlCol="0" anchor="ctr"/>
          <a:lstStyle/>
          <a:p>
            <a:pPr marL="0" indent="0" algn="ctr">
              <a:buNone/>
            </a:pPr>
            <a:r>
              <a:rPr lang="en-US" sz="1600" b="1" dirty="0">
                <a:solidFill>
                  <a:srgbClr val="F59E0B"/>
                </a:solidFill>
                <a:latin typeface="Segoe UI" pitchFamily="34" charset="0"/>
                <a:ea typeface="Segoe UI" pitchFamily="34" charset="-122"/>
                <a:cs typeface="Segoe UI" pitchFamily="34" charset="-120"/>
              </a:rPr>
              <a:t>BÁO CÁO ĐỒ ÁN TỐT NGHIỆP</a:t>
            </a:r>
            <a:endParaRPr lang="en-US" sz="1600" dirty="0"/>
          </a:p>
        </p:txBody>
      </p:sp>
      <p:sp>
        <p:nvSpPr>
          <p:cNvPr id="4" name="Text 2"/>
          <p:cNvSpPr/>
          <p:nvPr/>
        </p:nvSpPr>
        <p:spPr>
          <a:xfrm>
            <a:off x="457200" y="1737360"/>
            <a:ext cx="11274552" cy="914400"/>
          </a:xfrm>
          <a:prstGeom prst="rect">
            <a:avLst/>
          </a:prstGeom>
          <a:noFill/>
          <a:ln/>
        </p:spPr>
        <p:txBody>
          <a:bodyPr wrap="square" rtlCol="0" anchor="ctr"/>
          <a:lstStyle/>
          <a:p>
            <a:pPr marL="0" indent="0" algn="ctr">
              <a:buNone/>
            </a:pPr>
            <a:r>
              <a:rPr lang="en-US" sz="3200" b="1" dirty="0">
                <a:solidFill>
                  <a:srgbClr val="FFFFFF"/>
                </a:solidFill>
                <a:latin typeface="Segoe UI" pitchFamily="34" charset="0"/>
                <a:ea typeface="Segoe UI" pitchFamily="34" charset="-122"/>
                <a:cs typeface="Segoe UI" pitchFamily="34" charset="-120"/>
              </a:rPr>
              <a:t>AUTOCARE OFFICE HELPER (ACOH)</a:t>
            </a:r>
            <a:endParaRPr lang="en-US" sz="3200" dirty="0"/>
          </a:p>
        </p:txBody>
      </p:sp>
      <p:sp>
        <p:nvSpPr>
          <p:cNvPr id="5" name="Text 3"/>
          <p:cNvSpPr/>
          <p:nvPr/>
        </p:nvSpPr>
        <p:spPr>
          <a:xfrm>
            <a:off x="914400" y="2743200"/>
            <a:ext cx="10360152" cy="548640"/>
          </a:xfrm>
          <a:prstGeom prst="rect">
            <a:avLst/>
          </a:prstGeom>
          <a:noFill/>
          <a:ln/>
        </p:spPr>
        <p:txBody>
          <a:bodyPr wrap="square" rtlCol="0" anchor="ctr"/>
          <a:lstStyle/>
          <a:p>
            <a:pPr marL="0" indent="0" algn="ctr">
              <a:buNone/>
            </a:pPr>
            <a:r>
              <a:rPr lang="en-US" sz="1500" i="1" dirty="0">
                <a:solidFill>
                  <a:srgbClr val="E2E8F0"/>
                </a:solidFill>
                <a:latin typeface="Segoe UI" pitchFamily="34" charset="0"/>
                <a:ea typeface="Segoe UI" pitchFamily="34" charset="-122"/>
                <a:cs typeface="Segoe UI" pitchFamily="34" charset="-120"/>
              </a:rPr>
              <a:t>Hệ thống số hóa &amp; quản lý lịch đăng kiểm, bảo dưỡng, bảo hiểm phương tiện tối ưu cho người bận rộn</a:t>
            </a:r>
            <a:endParaRPr lang="en-US" sz="1500" dirty="0"/>
          </a:p>
        </p:txBody>
      </p:sp>
      <p:sp>
        <p:nvSpPr>
          <p:cNvPr id="6" name="Shape 4"/>
          <p:cNvSpPr/>
          <p:nvPr/>
        </p:nvSpPr>
        <p:spPr>
          <a:xfrm>
            <a:off x="2286000" y="3657600"/>
            <a:ext cx="7616952" cy="2103120"/>
          </a:xfrm>
          <a:prstGeom prst="roundRect">
            <a:avLst/>
          </a:prstGeom>
          <a:solidFill>
            <a:srgbClr val="1E293B"/>
          </a:solidFill>
          <a:ln w="19050">
            <a:solidFill>
              <a:srgbClr val="333333"/>
            </a:solidFill>
            <a:prstDash val="solid"/>
          </a:ln>
        </p:spPr>
      </p:sp>
      <p:sp>
        <p:nvSpPr>
          <p:cNvPr id="7" name="Text 5"/>
          <p:cNvSpPr/>
          <p:nvPr/>
        </p:nvSpPr>
        <p:spPr>
          <a:xfrm>
            <a:off x="2560320" y="3931920"/>
            <a:ext cx="3200400" cy="1554480"/>
          </a:xfrm>
          <a:prstGeom prst="rect">
            <a:avLst/>
          </a:prstGeom>
          <a:noFill/>
          <a:ln/>
        </p:spPr>
        <p:txBody>
          <a:bodyPr wrap="square" rtlCol="0" anchor="ctr"/>
          <a:lstStyle/>
          <a:p>
            <a:pPr marL="0" indent="0" algn="l">
              <a:lnSpc>
                <a:spcPts val="2200"/>
              </a:lnSpc>
              <a:buNone/>
            </a:pPr>
            <a:r>
              <a:rPr lang="en-US" sz="1100" b="1" dirty="0">
                <a:solidFill>
                  <a:srgbClr val="F59E0B"/>
                </a:solidFill>
                <a:latin typeface="Segoe UI" pitchFamily="34" charset="0"/>
                <a:ea typeface="Segoe UI" pitchFamily="34" charset="-122"/>
                <a:cs typeface="Segoe UI" pitchFamily="34" charset="-120"/>
              </a:rPr>
              <a:t>GIẢNG VIÊN HƯỚNG DẪN
</a:t>
            </a:r>
            <a:r>
              <a:rPr lang="en-US" sz="1300" dirty="0">
                <a:solidFill>
                  <a:srgbClr val="FFFFFF"/>
                </a:solidFill>
                <a:latin typeface="Segoe UI" pitchFamily="34" charset="0"/>
                <a:ea typeface="Segoe UI" pitchFamily="34" charset="-122"/>
                <a:cs typeface="Segoe UI" pitchFamily="34" charset="-120"/>
              </a:rPr>
              <a:t>ThS. Nguyễn Văn A</a:t>
            </a:r>
            <a:endParaRPr lang="en-US" sz="1100" dirty="0"/>
          </a:p>
          <a:p>
            <a:pPr marL="0" indent="0" algn="l">
              <a:lnSpc>
                <a:spcPts val="2200"/>
              </a:lnSpc>
              <a:buNone/>
            </a:pPr>
            <a:r>
              <a:rPr lang="en-US" sz="1300" dirty="0">
                <a:solidFill>
                  <a:srgbClr val="FFFFFF"/>
                </a:solidFill>
                <a:latin typeface="Segoe UI" pitchFamily="34" charset="0"/>
                <a:ea typeface="Segoe UI" pitchFamily="34" charset="-122"/>
                <a:cs typeface="Segoe UI" pitchFamily="34" charset="-120"/>
              </a:rPr>
              <a:t>(Giáo viên hướng dẫn)</a:t>
            </a:r>
            <a:endParaRPr lang="en-US" sz="1100" dirty="0"/>
          </a:p>
        </p:txBody>
      </p:sp>
      <p:sp>
        <p:nvSpPr>
          <p:cNvPr id="8" name="Text 6"/>
          <p:cNvSpPr/>
          <p:nvPr/>
        </p:nvSpPr>
        <p:spPr>
          <a:xfrm>
            <a:off x="6217920" y="3931920"/>
            <a:ext cx="3474720" cy="1554480"/>
          </a:xfrm>
          <a:prstGeom prst="rect">
            <a:avLst/>
          </a:prstGeom>
          <a:noFill/>
          <a:ln/>
        </p:spPr>
        <p:txBody>
          <a:bodyPr wrap="square" rtlCol="0" anchor="ctr"/>
          <a:lstStyle/>
          <a:p>
            <a:pPr marL="0" indent="0" algn="l">
              <a:lnSpc>
                <a:spcPts val="2200"/>
              </a:lnSpc>
              <a:buNone/>
            </a:pPr>
            <a:r>
              <a:rPr lang="en-US" sz="1100" b="1" dirty="0">
                <a:solidFill>
                  <a:srgbClr val="F59E0B"/>
                </a:solidFill>
                <a:latin typeface="Segoe UI" pitchFamily="34" charset="0"/>
                <a:ea typeface="Segoe UI" pitchFamily="34" charset="-122"/>
                <a:cs typeface="Segoe UI" pitchFamily="34" charset="-120"/>
              </a:rPr>
              <a:t>NHÓM THỰC HIỆN
</a:t>
            </a:r>
            <a:r>
              <a:rPr lang="en-US" sz="1300" dirty="0">
                <a:solidFill>
                  <a:srgbClr val="FFFFFF"/>
                </a:solidFill>
                <a:latin typeface="Segoe UI" pitchFamily="34" charset="0"/>
                <a:ea typeface="Segoe UI" pitchFamily="34" charset="-122"/>
                <a:cs typeface="Segoe UI" pitchFamily="34" charset="-120"/>
              </a:rPr>
              <a:t>1. Nguyễn Văn Khách Hàng (MSSV: 20201234)
2. Trần Thị Học Viên (MSSV: 20205678)
</a:t>
            </a:r>
            <a:r>
              <a:rPr lang="en-US" sz="1200" dirty="0">
                <a:solidFill>
                  <a:srgbClr val="E2E8F0"/>
                </a:solidFill>
                <a:latin typeface="Segoe UI" pitchFamily="34" charset="0"/>
                <a:ea typeface="Segoe UI" pitchFamily="34" charset="-122"/>
                <a:cs typeface="Segoe UI" pitchFamily="34" charset="-120"/>
              </a:rPr>
              <a:t>Lớp/Khóa: Công nghệ Thông tin - K65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 cy="685800"/>
          </a:xfrm>
          <a:prstGeom prst="rect">
            <a:avLst/>
          </a:prstGeom>
          <a:solidFill>
            <a:srgbClr val="2563EB"/>
          </a:solidFill>
          <a:ln w="12700">
            <a:solidFill>
              <a:srgbClr val="2563EB"/>
            </a:solidFill>
            <a:prstDash val="solid"/>
          </a:ln>
        </p:spPr>
      </p:sp>
      <p:sp>
        <p:nvSpPr>
          <p:cNvPr id="3" name="Text 1"/>
          <p:cNvSpPr/>
          <p:nvPr/>
        </p:nvSpPr>
        <p:spPr>
          <a:xfrm>
            <a:off x="731520" y="365760"/>
            <a:ext cx="10789920" cy="411480"/>
          </a:xfrm>
          <a:prstGeom prst="rect">
            <a:avLst/>
          </a:prstGeom>
          <a:noFill/>
          <a:ln/>
        </p:spPr>
        <p:txBody>
          <a:bodyPr wrap="square" rtlCol="0" anchor="ctr"/>
          <a:lstStyle/>
          <a:p>
            <a:pPr marL="0" indent="0">
              <a:buNone/>
            </a:pPr>
            <a:r>
              <a:rPr lang="en-US" sz="2000" b="1" dirty="0">
                <a:solidFill>
                  <a:srgbClr val="2563EB"/>
                </a:solidFill>
                <a:latin typeface="Segoe UI" pitchFamily="34" charset="0"/>
                <a:ea typeface="Segoe UI" pitchFamily="34" charset="-122"/>
                <a:cs typeface="Segoe UI" pitchFamily="34" charset="-120"/>
              </a:rPr>
              <a:t>01. BÀI TOÁN THỰC TẾ &amp; ĐỐI TƯỢNG NGƯỜI DÙNG</a:t>
            </a:r>
            <a:endParaRPr lang="en-US" sz="2000" dirty="0"/>
          </a:p>
        </p:txBody>
      </p:sp>
      <p:sp>
        <p:nvSpPr>
          <p:cNvPr id="4" name="Text 2"/>
          <p:cNvSpPr/>
          <p:nvPr/>
        </p:nvSpPr>
        <p:spPr>
          <a:xfrm>
            <a:off x="731520" y="777240"/>
            <a:ext cx="10789920" cy="320040"/>
          </a:xfrm>
          <a:prstGeom prst="rect">
            <a:avLst/>
          </a:prstGeom>
          <a:noFill/>
          <a:ln/>
        </p:spPr>
        <p:txBody>
          <a:bodyPr wrap="square" rtlCol="0" anchor="ctr"/>
          <a:lstStyle/>
          <a:p>
            <a:pPr marL="0" indent="0">
              <a:buNone/>
            </a:pPr>
            <a:r>
              <a:rPr lang="en-US" sz="1300" dirty="0">
                <a:solidFill>
                  <a:srgbClr val="475569"/>
                </a:solidFill>
                <a:latin typeface="Segoe UI" pitchFamily="34" charset="0"/>
                <a:ea typeface="Segoe UI" pitchFamily="34" charset="-122"/>
                <a:cs typeface="Segoe UI" pitchFamily="34" charset="-120"/>
              </a:rPr>
              <a:t>Thực trạng cần giải quyết và các đối tượng sử dụng hệ thống</a:t>
            </a:r>
            <a:endParaRPr lang="en-US" sz="1300" dirty="0"/>
          </a:p>
        </p:txBody>
      </p:sp>
      <p:sp>
        <p:nvSpPr>
          <p:cNvPr id="5" name="Shape 3"/>
          <p:cNvSpPr/>
          <p:nvPr/>
        </p:nvSpPr>
        <p:spPr>
          <a:xfrm>
            <a:off x="548640" y="1463040"/>
            <a:ext cx="5303520" cy="4754880"/>
          </a:xfrm>
          <a:prstGeom prst="roundRect">
            <a:avLst/>
          </a:prstGeom>
          <a:solidFill>
            <a:srgbClr val="FFFFFF"/>
          </a:solidFill>
          <a:ln w="19050">
            <a:solidFill>
              <a:srgbClr val="E2E8F0"/>
            </a:solidFill>
            <a:prstDash val="solid"/>
          </a:ln>
        </p:spPr>
      </p:sp>
      <p:sp>
        <p:nvSpPr>
          <p:cNvPr id="6" name="Text 4"/>
          <p:cNvSpPr/>
          <p:nvPr/>
        </p:nvSpPr>
        <p:spPr>
          <a:xfrm>
            <a:off x="822960" y="1737360"/>
            <a:ext cx="4754880" cy="365760"/>
          </a:xfrm>
          <a:prstGeom prst="rect">
            <a:avLst/>
          </a:prstGeom>
          <a:noFill/>
          <a:ln/>
        </p:spPr>
        <p:txBody>
          <a:bodyPr wrap="square" rtlCol="0" anchor="ctr"/>
          <a:lstStyle/>
          <a:p>
            <a:pPr marL="0" indent="0">
              <a:buNone/>
            </a:pPr>
            <a:r>
              <a:rPr lang="en-US" sz="1600" b="1" dirty="0">
                <a:solidFill>
                  <a:srgbClr val="DC2626"/>
                </a:solidFill>
                <a:latin typeface="Segoe UI" pitchFamily="34" charset="0"/>
                <a:ea typeface="Segoe UI" pitchFamily="34" charset="-122"/>
                <a:cs typeface="Segoe UI" pitchFamily="34" charset="-120"/>
              </a:rPr>
              <a:t>THỰC TRẠNG &amp; KHÓ KHĂN THỰC TẾ</a:t>
            </a:r>
            <a:endParaRPr lang="en-US" sz="1600" dirty="0"/>
          </a:p>
        </p:txBody>
      </p:sp>
      <p:sp>
        <p:nvSpPr>
          <p:cNvPr id="7" name="Text 5"/>
          <p:cNvSpPr/>
          <p:nvPr/>
        </p:nvSpPr>
        <p:spPr>
          <a:xfrm>
            <a:off x="822960" y="2194560"/>
            <a:ext cx="4754880" cy="3749040"/>
          </a:xfrm>
          <a:prstGeom prst="rect">
            <a:avLst/>
          </a:prstGeom>
          <a:noFill/>
          <a:ln/>
        </p:spPr>
        <p:txBody>
          <a:bodyPr wrap="square" rtlCol="0" anchor="ctr"/>
          <a:lstStyle/>
          <a:p>
            <a:pPr marL="0" indent="0">
              <a:lnSpc>
                <a:spcPts val="2000"/>
              </a:lnSpc>
              <a:buNone/>
            </a:pPr>
            <a:r>
              <a:rPr lang="en-US" sz="1300" b="1" dirty="0">
                <a:solidFill>
                  <a:srgbClr val="0F172A"/>
                </a:solidFill>
                <a:latin typeface="Segoe UI" pitchFamily="34" charset="0"/>
                <a:ea typeface="Segoe UI" pitchFamily="34" charset="-122"/>
                <a:cs typeface="Segoe UI" pitchFamily="34" charset="-120"/>
              </a:rPr>
              <a:t>• Quên các mốc thời hạn quan trọng: </a:t>
            </a:r>
            <a:r>
              <a:rPr lang="en-US" sz="1300" dirty="0">
                <a:solidFill>
                  <a:srgbClr val="475569"/>
                </a:solidFill>
                <a:latin typeface="Segoe UI" pitchFamily="34" charset="0"/>
                <a:ea typeface="Segoe UI" pitchFamily="34" charset="-122"/>
                <a:cs typeface="Segoe UI" pitchFamily="34" charset="-120"/>
              </a:rPr>
              <a:t>Người bận rộn (như nhân viên văn phòng) thường xuyên quên lịch đăng kiểm, bảo dưỡng định kỳ, mua bảo hiểm. Gây mất an toàn và bị phạt nặng.
</a:t>
            </a:r>
            <a:r>
              <a:rPr lang="en-US" sz="1300" b="1" dirty="0">
                <a:solidFill>
                  <a:srgbClr val="0F172A"/>
                </a:solidFill>
                <a:latin typeface="Segoe UI" pitchFamily="34" charset="0"/>
                <a:ea typeface="Segoe UI" pitchFamily="34" charset="-122"/>
                <a:cs typeface="Segoe UI" pitchFamily="34" charset="-120"/>
              </a:rPr>
              <a:t>• Quản lý chi phí thủ công, phân tán: </a:t>
            </a:r>
            <a:r>
              <a:rPr lang="en-US" sz="1300" dirty="0">
                <a:solidFill>
                  <a:srgbClr val="475569"/>
                </a:solidFill>
                <a:latin typeface="Segoe UI" pitchFamily="34" charset="0"/>
                <a:ea typeface="Segoe UI" pitchFamily="34" charset="-122"/>
                <a:cs typeface="Segoe UI" pitchFamily="34" charset="-120"/>
              </a:rPr>
              <a:t>Chưa có ứng dụng tập trung theo dõi số kilomet (odometer) thực tế cùng lúc cho nhiều xe (ô tô, xe máy) và thống kê chi tiêu hàng tháng.
</a:t>
            </a:r>
            <a:r>
              <a:rPr lang="en-US" sz="1300" b="1" dirty="0">
                <a:solidFill>
                  <a:srgbClr val="0F172A"/>
                </a:solidFill>
                <a:latin typeface="Segoe UI" pitchFamily="34" charset="0"/>
                <a:ea typeface="Segoe UI" pitchFamily="34" charset="-122"/>
                <a:cs typeface="Segoe UI" pitchFamily="34" charset="-120"/>
              </a:rPr>
              <a:t>• Khó kết nối với các dịch vụ sửa chữa: </a:t>
            </a:r>
            <a:r>
              <a:rPr lang="en-US" sz="1300" dirty="0">
                <a:solidFill>
                  <a:srgbClr val="475569"/>
                </a:solidFill>
                <a:latin typeface="Segoe UI" pitchFamily="34" charset="0"/>
                <a:ea typeface="Segoe UI" pitchFamily="34" charset="-122"/>
                <a:cs typeface="Segoe UI" pitchFamily="34" charset="-120"/>
              </a:rPr>
              <a:t>Đặt lịch hẹn Gara mất nhiều thời gian, quy trình chưa tối ưu và không lưu trữ được nhật ký sửa chữa điện tử của xe.</a:t>
            </a:r>
            <a:endParaRPr lang="en-US" sz="1300" dirty="0"/>
          </a:p>
        </p:txBody>
      </p:sp>
      <p:sp>
        <p:nvSpPr>
          <p:cNvPr id="8" name="Shape 6"/>
          <p:cNvSpPr/>
          <p:nvPr/>
        </p:nvSpPr>
        <p:spPr>
          <a:xfrm>
            <a:off x="6309360" y="1463040"/>
            <a:ext cx="5303520" cy="4754880"/>
          </a:xfrm>
          <a:prstGeom prst="roundRect">
            <a:avLst/>
          </a:prstGeom>
          <a:solidFill>
            <a:srgbClr val="FFFFFF"/>
          </a:solidFill>
          <a:ln w="19050">
            <a:solidFill>
              <a:srgbClr val="E2E8F0"/>
            </a:solidFill>
            <a:prstDash val="solid"/>
          </a:ln>
        </p:spPr>
      </p:sp>
      <p:sp>
        <p:nvSpPr>
          <p:cNvPr id="9" name="Text 7"/>
          <p:cNvSpPr/>
          <p:nvPr/>
        </p:nvSpPr>
        <p:spPr>
          <a:xfrm>
            <a:off x="6583680" y="1737360"/>
            <a:ext cx="4754880" cy="365760"/>
          </a:xfrm>
          <a:prstGeom prst="rect">
            <a:avLst/>
          </a:prstGeom>
          <a:noFill/>
          <a:ln/>
        </p:spPr>
        <p:txBody>
          <a:bodyPr wrap="square" rtlCol="0" anchor="ctr"/>
          <a:lstStyle/>
          <a:p>
            <a:pPr marL="0" indent="0">
              <a:buNone/>
            </a:pPr>
            <a:r>
              <a:rPr lang="en-US" sz="1600" b="1" dirty="0">
                <a:solidFill>
                  <a:srgbClr val="059669"/>
                </a:solidFill>
                <a:latin typeface="Segoe UI" pitchFamily="34" charset="0"/>
                <a:ea typeface="Segoe UI" pitchFamily="34" charset="-122"/>
                <a:cs typeface="Segoe UI" pitchFamily="34" charset="-120"/>
              </a:rPr>
              <a:t>ĐỐI TƯỢNG NGƯỜI DÙNG HƯỚNG TỚI</a:t>
            </a:r>
            <a:endParaRPr lang="en-US" sz="1600" dirty="0"/>
          </a:p>
        </p:txBody>
      </p:sp>
      <p:sp>
        <p:nvSpPr>
          <p:cNvPr id="10" name="Text 8"/>
          <p:cNvSpPr/>
          <p:nvPr/>
        </p:nvSpPr>
        <p:spPr>
          <a:xfrm>
            <a:off x="6583680" y="2194560"/>
            <a:ext cx="4754880" cy="3749040"/>
          </a:xfrm>
          <a:prstGeom prst="rect">
            <a:avLst/>
          </a:prstGeom>
          <a:noFill/>
          <a:ln/>
        </p:spPr>
        <p:txBody>
          <a:bodyPr wrap="square" rtlCol="0" anchor="ctr"/>
          <a:lstStyle/>
          <a:p>
            <a:pPr marL="0" indent="0">
              <a:lnSpc>
                <a:spcPts val="2000"/>
              </a:lnSpc>
              <a:buNone/>
            </a:pPr>
            <a:r>
              <a:rPr lang="en-US" sz="1300" b="1" dirty="0">
                <a:solidFill>
                  <a:srgbClr val="0F172A"/>
                </a:solidFill>
                <a:latin typeface="Segoe UI" pitchFamily="34" charset="0"/>
                <a:ea typeface="Segoe UI" pitchFamily="34" charset="-122"/>
                <a:cs typeface="Segoe UI" pitchFamily="34" charset="-120"/>
              </a:rPr>
              <a:t>• USER (Chủ phương tiện): </a:t>
            </a:r>
            <a:r>
              <a:rPr lang="en-US" sz="1300" dirty="0">
                <a:solidFill>
                  <a:srgbClr val="475569"/>
                </a:solidFill>
                <a:latin typeface="Segoe UI" pitchFamily="34" charset="0"/>
                <a:ea typeface="Segoe UI" pitchFamily="34" charset="-122"/>
                <a:cs typeface="Segoe UI" pitchFamily="34" charset="-120"/>
              </a:rPr>
              <a:t>Theo dõi chỉ số xe, cập nhật Kilomet hiện tại, nhận thông báo nhắc nhở tự động, đặt lịch hẹn sửa chữa và hỏi đáp với trợ lý AI.
</a:t>
            </a:r>
            <a:r>
              <a:rPr lang="en-US" sz="1300" b="1" dirty="0">
                <a:solidFill>
                  <a:srgbClr val="0F172A"/>
                </a:solidFill>
                <a:latin typeface="Segoe UI" pitchFamily="34" charset="0"/>
                <a:ea typeface="Segoe UI" pitchFamily="34" charset="-122"/>
                <a:cs typeface="Segoe UI" pitchFamily="34" charset="-120"/>
              </a:rPr>
              <a:t>• GARAGE (Đối tác liên kết): </a:t>
            </a:r>
            <a:r>
              <a:rPr lang="en-US" sz="1300" dirty="0">
                <a:solidFill>
                  <a:srgbClr val="475569"/>
                </a:solidFill>
                <a:latin typeface="Segoe UI" pitchFamily="34" charset="0"/>
                <a:ea typeface="Segoe UI" pitchFamily="34" charset="-122"/>
                <a:cs typeface="Segoe UI" pitchFamily="34" charset="-120"/>
              </a:rPr>
              <a:t>Quản lý lịch hẹn trực tuyến, định danh phương tiện của khách hàng dựa trên biển số xe, trực tiếp ghi sổ bảo dưỡng điện tử và quản lý doanh thu.
</a:t>
            </a:r>
            <a:r>
              <a:rPr lang="en-US" sz="1300" b="1" dirty="0">
                <a:solidFill>
                  <a:srgbClr val="0F172A"/>
                </a:solidFill>
                <a:latin typeface="Segoe UI" pitchFamily="34" charset="0"/>
                <a:ea typeface="Segoe UI" pitchFamily="34" charset="-122"/>
                <a:cs typeface="Segoe UI" pitchFamily="34" charset="-120"/>
              </a:rPr>
              <a:t>• ADMIN (Quản trị viên): </a:t>
            </a:r>
            <a:r>
              <a:rPr lang="en-US" sz="1300" dirty="0">
                <a:solidFill>
                  <a:srgbClr val="475569"/>
                </a:solidFill>
                <a:latin typeface="Segoe UI" pitchFamily="34" charset="0"/>
                <a:ea typeface="Segoe UI" pitchFamily="34" charset="-122"/>
                <a:cs typeface="Segoe UI" pitchFamily="34" charset="-120"/>
              </a:rPr>
              <a:t>Quản lý tài khoản, kiểm duyệt các Gara đăng ký liên kết, quản lý các danh mục cấu hình và giám sát hoạt động hệ thống qua Dashboard tổng.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 cy="685800"/>
          </a:xfrm>
          <a:prstGeom prst="rect">
            <a:avLst/>
          </a:prstGeom>
          <a:solidFill>
            <a:srgbClr val="2563EB"/>
          </a:solidFill>
          <a:ln w="12700">
            <a:solidFill>
              <a:srgbClr val="2563EB"/>
            </a:solidFill>
            <a:prstDash val="solid"/>
          </a:ln>
        </p:spPr>
      </p:sp>
      <p:sp>
        <p:nvSpPr>
          <p:cNvPr id="3" name="Text 1"/>
          <p:cNvSpPr/>
          <p:nvPr/>
        </p:nvSpPr>
        <p:spPr>
          <a:xfrm>
            <a:off x="731520" y="365760"/>
            <a:ext cx="10789920" cy="411480"/>
          </a:xfrm>
          <a:prstGeom prst="rect">
            <a:avLst/>
          </a:prstGeom>
          <a:noFill/>
          <a:ln/>
        </p:spPr>
        <p:txBody>
          <a:bodyPr wrap="square" rtlCol="0" anchor="ctr"/>
          <a:lstStyle/>
          <a:p>
            <a:pPr marL="0" indent="0">
              <a:buNone/>
            </a:pPr>
            <a:r>
              <a:rPr lang="en-US" sz="2000" b="1" dirty="0">
                <a:solidFill>
                  <a:srgbClr val="2563EB"/>
                </a:solidFill>
                <a:latin typeface="Segoe UI" pitchFamily="34" charset="0"/>
                <a:ea typeface="Segoe UI" pitchFamily="34" charset="-122"/>
                <a:cs typeface="Segoe UI" pitchFamily="34" charset="-120"/>
              </a:rPr>
              <a:t>02. KIẾN TRÚC CÔNG NGHỆ &amp; MÔ HÌNH DỮ LIỆU (ERD)</a:t>
            </a:r>
            <a:endParaRPr lang="en-US" sz="2000" dirty="0"/>
          </a:p>
        </p:txBody>
      </p:sp>
      <p:sp>
        <p:nvSpPr>
          <p:cNvPr id="4" name="Text 2"/>
          <p:cNvSpPr/>
          <p:nvPr/>
        </p:nvSpPr>
        <p:spPr>
          <a:xfrm>
            <a:off x="731520" y="777240"/>
            <a:ext cx="10789920" cy="320040"/>
          </a:xfrm>
          <a:prstGeom prst="rect">
            <a:avLst/>
          </a:prstGeom>
          <a:noFill/>
          <a:ln/>
        </p:spPr>
        <p:txBody>
          <a:bodyPr wrap="square" rtlCol="0" anchor="ctr"/>
          <a:lstStyle/>
          <a:p>
            <a:pPr marL="0" indent="0">
              <a:buNone/>
            </a:pPr>
            <a:r>
              <a:rPr lang="en-US" sz="1300" dirty="0">
                <a:solidFill>
                  <a:srgbClr val="475569"/>
                </a:solidFill>
                <a:latin typeface="Segoe UI" pitchFamily="34" charset="0"/>
                <a:ea typeface="Segoe UI" pitchFamily="34" charset="-122"/>
                <a:cs typeface="Segoe UI" pitchFamily="34" charset="-120"/>
              </a:rPr>
              <a:t>Nền tảng công nghệ và thiết kế cơ sở dữ liệu quan hệ của hệ thống</a:t>
            </a:r>
            <a:endParaRPr lang="en-US" sz="1300" dirty="0"/>
          </a:p>
        </p:txBody>
      </p:sp>
      <p:sp>
        <p:nvSpPr>
          <p:cNvPr id="5" name="Shape 3"/>
          <p:cNvSpPr/>
          <p:nvPr/>
        </p:nvSpPr>
        <p:spPr>
          <a:xfrm>
            <a:off x="548640" y="1463040"/>
            <a:ext cx="4572000" cy="4754880"/>
          </a:xfrm>
          <a:prstGeom prst="roundRect">
            <a:avLst/>
          </a:prstGeom>
          <a:solidFill>
            <a:srgbClr val="FFFFFF"/>
          </a:solidFill>
          <a:ln w="19050">
            <a:solidFill>
              <a:srgbClr val="E2E8F0"/>
            </a:solidFill>
            <a:prstDash val="solid"/>
          </a:ln>
        </p:spPr>
      </p:sp>
      <p:sp>
        <p:nvSpPr>
          <p:cNvPr id="6" name="Text 4"/>
          <p:cNvSpPr/>
          <p:nvPr/>
        </p:nvSpPr>
        <p:spPr>
          <a:xfrm>
            <a:off x="731520" y="1737360"/>
            <a:ext cx="4206240" cy="365760"/>
          </a:xfrm>
          <a:prstGeom prst="rect">
            <a:avLst/>
          </a:prstGeom>
          <a:noFill/>
          <a:ln/>
        </p:spPr>
        <p:txBody>
          <a:bodyPr wrap="square" rtlCol="0" anchor="ctr"/>
          <a:lstStyle/>
          <a:p>
            <a:pPr marL="0" indent="0">
              <a:buNone/>
            </a:pPr>
            <a:r>
              <a:rPr lang="en-US" sz="1600" b="1" dirty="0">
                <a:solidFill>
                  <a:srgbClr val="2563EB"/>
                </a:solidFill>
                <a:latin typeface="Segoe UI" pitchFamily="34" charset="0"/>
                <a:ea typeface="Segoe UI" pitchFamily="34" charset="-122"/>
                <a:cs typeface="Segoe UI" pitchFamily="34" charset="-120"/>
              </a:rPr>
              <a:t>CÔNG NGHỆ &amp; KIẾN TRÚC HỆ THỐNG</a:t>
            </a:r>
            <a:endParaRPr lang="en-US" sz="1600" dirty="0"/>
          </a:p>
        </p:txBody>
      </p:sp>
      <p:sp>
        <p:nvSpPr>
          <p:cNvPr id="7" name="Text 5"/>
          <p:cNvSpPr/>
          <p:nvPr/>
        </p:nvSpPr>
        <p:spPr>
          <a:xfrm>
            <a:off x="731520" y="2103120"/>
            <a:ext cx="4206240" cy="3931920"/>
          </a:xfrm>
          <a:prstGeom prst="rect">
            <a:avLst/>
          </a:prstGeom>
          <a:noFill/>
          <a:ln/>
        </p:spPr>
        <p:txBody>
          <a:bodyPr wrap="square" rtlCol="0" anchor="ctr"/>
          <a:lstStyle/>
          <a:p>
            <a:pPr marL="0" indent="0">
              <a:lnSpc>
                <a:spcPts val="1800"/>
              </a:lnSpc>
              <a:buNone/>
            </a:pPr>
            <a:r>
              <a:rPr lang="en-US" sz="1250" b="1" dirty="0">
                <a:solidFill>
                  <a:srgbClr val="0F172A"/>
                </a:solidFill>
                <a:latin typeface="Segoe UI" pitchFamily="34" charset="0"/>
                <a:ea typeface="Segoe UI" pitchFamily="34" charset="-122"/>
                <a:cs typeface="Segoe UI" pitchFamily="34" charset="-120"/>
              </a:rPr>
              <a:t>• Front-End (FE):
</a:t>
            </a:r>
            <a:r>
              <a:rPr lang="en-US" sz="1250" dirty="0">
                <a:solidFill>
                  <a:srgbClr val="475569"/>
                </a:solidFill>
                <a:latin typeface="Segoe UI" pitchFamily="34" charset="0"/>
                <a:ea typeface="Segoe UI" pitchFamily="34" charset="-122"/>
                <a:cs typeface="Segoe UI" pitchFamily="34" charset="-120"/>
              </a:rPr>
              <a:t>React.js framework, styling bằng Tailwind CSS + Shadcn/ui giúp AI sinh giao diện nhanh và hỗ trợ Responsive/Mobile-first tốt.
</a:t>
            </a:r>
            <a:r>
              <a:rPr lang="en-US" sz="1250" b="1" dirty="0">
                <a:solidFill>
                  <a:srgbClr val="0F172A"/>
                </a:solidFill>
                <a:latin typeface="Segoe UI" pitchFamily="34" charset="0"/>
                <a:ea typeface="Segoe UI" pitchFamily="34" charset="-122"/>
                <a:cs typeface="Segoe UI" pitchFamily="34" charset="-120"/>
              </a:rPr>
              <a:t>• Back-End (BE):
</a:t>
            </a:r>
            <a:r>
              <a:rPr lang="en-US" sz="1250" dirty="0">
                <a:solidFill>
                  <a:srgbClr val="475569"/>
                </a:solidFill>
                <a:latin typeface="Segoe UI" pitchFamily="34" charset="0"/>
                <a:ea typeface="Segoe UI" pitchFamily="34" charset="-122"/>
                <a:cs typeface="Segoe UI" pitchFamily="34" charset="-120"/>
              </a:rPr>
              <a:t>Nest.js (Node.js runtime), cấu trúc Module hóa rõ ràng. Bảo mật JWT &amp; BCrypt. Gửi mail tự động bằng Nodemailer.
</a:t>
            </a:r>
            <a:r>
              <a:rPr lang="en-US" sz="1250" b="1" dirty="0">
                <a:solidFill>
                  <a:srgbClr val="0F172A"/>
                </a:solidFill>
                <a:latin typeface="Segoe UI" pitchFamily="34" charset="0"/>
                <a:ea typeface="Segoe UI" pitchFamily="34" charset="-122"/>
                <a:cs typeface="Segoe UI" pitchFamily="34" charset="-120"/>
              </a:rPr>
              <a:t>• Database:
</a:t>
            </a:r>
            <a:r>
              <a:rPr lang="en-US" sz="1250" dirty="0">
                <a:solidFill>
                  <a:srgbClr val="475569"/>
                </a:solidFill>
                <a:latin typeface="Segoe UI" pitchFamily="34" charset="0"/>
                <a:ea typeface="Segoe UI" pitchFamily="34" charset="-122"/>
                <a:cs typeface="Segoe UI" pitchFamily="34" charset="-120"/>
              </a:rPr>
              <a:t>Hệ quản trị CSDL quan hệ Microsoft SQL Server 2014, cài đặt các Non-clustered Indexes tăng tốc độ truy vấn liên kết.
</a:t>
            </a:r>
            <a:r>
              <a:rPr lang="en-US" sz="1250" b="1" dirty="0">
                <a:solidFill>
                  <a:srgbClr val="0F172A"/>
                </a:solidFill>
                <a:latin typeface="Segoe UI" pitchFamily="34" charset="0"/>
                <a:ea typeface="Segoe UI" pitchFamily="34" charset="-122"/>
                <a:cs typeface="Segoe UI" pitchFamily="34" charset="-120"/>
              </a:rPr>
              <a:t>• Mô hình kiến trúc:
</a:t>
            </a:r>
            <a:r>
              <a:rPr lang="en-US" sz="1250" dirty="0">
                <a:solidFill>
                  <a:srgbClr val="475569"/>
                </a:solidFill>
                <a:latin typeface="Segoe UI" pitchFamily="34" charset="0"/>
                <a:ea typeface="Segoe UI" pitchFamily="34" charset="-122"/>
                <a:cs typeface="Segoe UI" pitchFamily="34" charset="-120"/>
              </a:rPr>
              <a:t>Clean Architecture (Controller - Service - Repository) đảm bảo tính mở rộng và dễ bảo trì.</a:t>
            </a:r>
            <a:endParaRPr lang="en-US" sz="1250" dirty="0"/>
          </a:p>
        </p:txBody>
      </p:sp>
      <p:sp>
        <p:nvSpPr>
          <p:cNvPr id="8" name="Shape 6"/>
          <p:cNvSpPr/>
          <p:nvPr/>
        </p:nvSpPr>
        <p:spPr>
          <a:xfrm>
            <a:off x="5486400" y="1463040"/>
            <a:ext cx="6126480" cy="4754880"/>
          </a:xfrm>
          <a:prstGeom prst="roundRect">
            <a:avLst/>
          </a:prstGeom>
          <a:solidFill>
            <a:srgbClr val="FFFFFF"/>
          </a:solidFill>
          <a:ln w="19050">
            <a:solidFill>
              <a:srgbClr val="E2E8F0"/>
            </a:solidFill>
            <a:prstDash val="solid"/>
          </a:ln>
        </p:spPr>
      </p:sp>
      <p:sp>
        <p:nvSpPr>
          <p:cNvPr id="9" name="Text 7"/>
          <p:cNvSpPr/>
          <p:nvPr/>
        </p:nvSpPr>
        <p:spPr>
          <a:xfrm>
            <a:off x="5669280" y="1737360"/>
            <a:ext cx="5760720" cy="365760"/>
          </a:xfrm>
          <a:prstGeom prst="rect">
            <a:avLst/>
          </a:prstGeom>
          <a:noFill/>
          <a:ln/>
        </p:spPr>
        <p:txBody>
          <a:bodyPr wrap="square" rtlCol="0" anchor="ctr"/>
          <a:lstStyle/>
          <a:p>
            <a:pPr marL="0" indent="0">
              <a:buNone/>
            </a:pPr>
            <a:r>
              <a:rPr lang="en-US" sz="1600" b="1" dirty="0">
                <a:solidFill>
                  <a:srgbClr val="2563EB"/>
                </a:solidFill>
                <a:latin typeface="Segoe UI" pitchFamily="34" charset="0"/>
                <a:ea typeface="Segoe UI" pitchFamily="34" charset="-122"/>
                <a:cs typeface="Segoe UI" pitchFamily="34" charset="-120"/>
              </a:rPr>
              <a:t>SƠ ĐỒ THỰC THỂ LIÊN KẾT (CSDL)</a:t>
            </a:r>
            <a:endParaRPr lang="en-US" sz="1600" dirty="0"/>
          </a:p>
        </p:txBody>
      </p:sp>
      <p:sp>
        <p:nvSpPr>
          <p:cNvPr id="10" name="Shape 8"/>
          <p:cNvSpPr/>
          <p:nvPr/>
        </p:nvSpPr>
        <p:spPr>
          <a:xfrm>
            <a:off x="5760720" y="2194560"/>
            <a:ext cx="1280160" cy="548640"/>
          </a:xfrm>
          <a:prstGeom prst="roundRect">
            <a:avLst/>
          </a:prstGeom>
          <a:solidFill>
            <a:srgbClr val="1E293B"/>
          </a:solidFill>
          <a:ln w="19050">
            <a:solidFill>
              <a:srgbClr val="38BDF8"/>
            </a:solidFill>
            <a:prstDash val="solid"/>
          </a:ln>
        </p:spPr>
      </p:sp>
      <p:sp>
        <p:nvSpPr>
          <p:cNvPr id="11" name="Text 9"/>
          <p:cNvSpPr/>
          <p:nvPr/>
        </p:nvSpPr>
        <p:spPr>
          <a:xfrm>
            <a:off x="5760720" y="2194560"/>
            <a:ext cx="128016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Users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(Người dùng)</a:t>
            </a:r>
            <a:endParaRPr lang="en-US" sz="950" dirty="0"/>
          </a:p>
        </p:txBody>
      </p:sp>
      <p:sp>
        <p:nvSpPr>
          <p:cNvPr id="12" name="Shape 10"/>
          <p:cNvSpPr/>
          <p:nvPr/>
        </p:nvSpPr>
        <p:spPr>
          <a:xfrm>
            <a:off x="7772400" y="2194560"/>
            <a:ext cx="1280160" cy="548640"/>
          </a:xfrm>
          <a:prstGeom prst="roundRect">
            <a:avLst/>
          </a:prstGeom>
          <a:solidFill>
            <a:srgbClr val="1E293B"/>
          </a:solidFill>
          <a:ln w="19050">
            <a:solidFill>
              <a:srgbClr val="38BDF8"/>
            </a:solidFill>
            <a:prstDash val="solid"/>
          </a:ln>
        </p:spPr>
      </p:sp>
      <p:sp>
        <p:nvSpPr>
          <p:cNvPr id="13" name="Text 11"/>
          <p:cNvSpPr/>
          <p:nvPr/>
        </p:nvSpPr>
        <p:spPr>
          <a:xfrm>
            <a:off x="7772400" y="2194560"/>
            <a:ext cx="128016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Vehicles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(Phương tiện)</a:t>
            </a:r>
            <a:endParaRPr lang="en-US" sz="950" dirty="0"/>
          </a:p>
        </p:txBody>
      </p:sp>
      <p:sp>
        <p:nvSpPr>
          <p:cNvPr id="14" name="Shape 12"/>
          <p:cNvSpPr/>
          <p:nvPr/>
        </p:nvSpPr>
        <p:spPr>
          <a:xfrm>
            <a:off x="9784080" y="2194560"/>
            <a:ext cx="1554480" cy="548640"/>
          </a:xfrm>
          <a:prstGeom prst="roundRect">
            <a:avLst/>
          </a:prstGeom>
          <a:solidFill>
            <a:srgbClr val="1E293B"/>
          </a:solidFill>
          <a:ln w="19050">
            <a:solidFill>
              <a:srgbClr val="38BDF8"/>
            </a:solidFill>
            <a:prstDash val="solid"/>
          </a:ln>
        </p:spPr>
      </p:sp>
      <p:sp>
        <p:nvSpPr>
          <p:cNvPr id="15" name="Text 13"/>
          <p:cNvSpPr/>
          <p:nvPr/>
        </p:nvSpPr>
        <p:spPr>
          <a:xfrm>
            <a:off x="9784080" y="2194560"/>
            <a:ext cx="155448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LegalDocuments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(Giấy tờ xe)</a:t>
            </a:r>
            <a:endParaRPr lang="en-US" sz="950" dirty="0"/>
          </a:p>
        </p:txBody>
      </p:sp>
      <p:sp>
        <p:nvSpPr>
          <p:cNvPr id="16" name="Shape 14"/>
          <p:cNvSpPr/>
          <p:nvPr/>
        </p:nvSpPr>
        <p:spPr>
          <a:xfrm>
            <a:off x="5760720" y="3200400"/>
            <a:ext cx="1280160" cy="548640"/>
          </a:xfrm>
          <a:prstGeom prst="roundRect">
            <a:avLst/>
          </a:prstGeom>
          <a:solidFill>
            <a:srgbClr val="1E293B"/>
          </a:solidFill>
          <a:ln w="19050">
            <a:solidFill>
              <a:srgbClr val="38BDF8"/>
            </a:solidFill>
            <a:prstDash val="solid"/>
          </a:ln>
        </p:spPr>
      </p:sp>
      <p:sp>
        <p:nvSpPr>
          <p:cNvPr id="17" name="Text 15"/>
          <p:cNvSpPr/>
          <p:nvPr/>
        </p:nvSpPr>
        <p:spPr>
          <a:xfrm>
            <a:off x="5760720" y="3200400"/>
            <a:ext cx="128016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Notifications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(Thông báo)</a:t>
            </a:r>
            <a:endParaRPr lang="en-US" sz="950" dirty="0"/>
          </a:p>
        </p:txBody>
      </p:sp>
      <p:sp>
        <p:nvSpPr>
          <p:cNvPr id="18" name="Shape 16"/>
          <p:cNvSpPr/>
          <p:nvPr/>
        </p:nvSpPr>
        <p:spPr>
          <a:xfrm>
            <a:off x="7589520" y="3200400"/>
            <a:ext cx="1645920" cy="548640"/>
          </a:xfrm>
          <a:prstGeom prst="roundRect">
            <a:avLst/>
          </a:prstGeom>
          <a:solidFill>
            <a:srgbClr val="1E293B"/>
          </a:solidFill>
          <a:ln w="19050">
            <a:solidFill>
              <a:srgbClr val="38BDF8"/>
            </a:solidFill>
            <a:prstDash val="solid"/>
          </a:ln>
        </p:spPr>
      </p:sp>
      <p:sp>
        <p:nvSpPr>
          <p:cNvPr id="19" name="Text 17"/>
          <p:cNvSpPr/>
          <p:nvPr/>
        </p:nvSpPr>
        <p:spPr>
          <a:xfrm>
            <a:off x="7589520" y="3200400"/>
            <a:ext cx="164592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Schedules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(Mốc nhắc bảo dưỡng)</a:t>
            </a:r>
            <a:endParaRPr lang="en-US" sz="950" dirty="0"/>
          </a:p>
        </p:txBody>
      </p:sp>
      <p:sp>
        <p:nvSpPr>
          <p:cNvPr id="20" name="Shape 18"/>
          <p:cNvSpPr/>
          <p:nvPr/>
        </p:nvSpPr>
        <p:spPr>
          <a:xfrm>
            <a:off x="5760720" y="4206240"/>
            <a:ext cx="1280160" cy="548640"/>
          </a:xfrm>
          <a:prstGeom prst="roundRect">
            <a:avLst/>
          </a:prstGeom>
          <a:solidFill>
            <a:srgbClr val="1E293B"/>
          </a:solidFill>
          <a:ln w="19050">
            <a:solidFill>
              <a:srgbClr val="38BDF8"/>
            </a:solidFill>
            <a:prstDash val="solid"/>
          </a:ln>
        </p:spPr>
      </p:sp>
      <p:sp>
        <p:nvSpPr>
          <p:cNvPr id="21" name="Text 19"/>
          <p:cNvSpPr/>
          <p:nvPr/>
        </p:nvSpPr>
        <p:spPr>
          <a:xfrm>
            <a:off x="5760720" y="4206240"/>
            <a:ext cx="128016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Garages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(Trạm dịch vụ)</a:t>
            </a:r>
            <a:endParaRPr lang="en-US" sz="950" dirty="0"/>
          </a:p>
        </p:txBody>
      </p:sp>
      <p:sp>
        <p:nvSpPr>
          <p:cNvPr id="22" name="Shape 20"/>
          <p:cNvSpPr/>
          <p:nvPr/>
        </p:nvSpPr>
        <p:spPr>
          <a:xfrm>
            <a:off x="7772400" y="4206240"/>
            <a:ext cx="1280160" cy="548640"/>
          </a:xfrm>
          <a:prstGeom prst="roundRect">
            <a:avLst/>
          </a:prstGeom>
          <a:solidFill>
            <a:srgbClr val="1E293B"/>
          </a:solidFill>
          <a:ln w="19050">
            <a:solidFill>
              <a:srgbClr val="38BDF8"/>
            </a:solidFill>
            <a:prstDash val="solid"/>
          </a:ln>
        </p:spPr>
      </p:sp>
      <p:sp>
        <p:nvSpPr>
          <p:cNvPr id="23" name="Text 21"/>
          <p:cNvSpPr/>
          <p:nvPr/>
        </p:nvSpPr>
        <p:spPr>
          <a:xfrm>
            <a:off x="7772400" y="4206240"/>
            <a:ext cx="128016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Appointments</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(Lịch đặt hẹn)</a:t>
            </a:r>
            <a:endParaRPr lang="en-US" sz="950" dirty="0"/>
          </a:p>
        </p:txBody>
      </p:sp>
      <p:sp>
        <p:nvSpPr>
          <p:cNvPr id="24" name="Shape 22"/>
          <p:cNvSpPr/>
          <p:nvPr/>
        </p:nvSpPr>
        <p:spPr>
          <a:xfrm>
            <a:off x="9784080" y="4206240"/>
            <a:ext cx="1554480" cy="548640"/>
          </a:xfrm>
          <a:prstGeom prst="roundRect">
            <a:avLst/>
          </a:prstGeom>
          <a:solidFill>
            <a:srgbClr val="1E293B"/>
          </a:solidFill>
          <a:ln w="19050">
            <a:solidFill>
              <a:srgbClr val="38BDF8"/>
            </a:solidFill>
            <a:prstDash val="solid"/>
          </a:ln>
        </p:spPr>
      </p:sp>
      <p:sp>
        <p:nvSpPr>
          <p:cNvPr id="25" name="Text 23"/>
          <p:cNvSpPr/>
          <p:nvPr/>
        </p:nvSpPr>
        <p:spPr>
          <a:xfrm>
            <a:off x="9784080" y="4206240"/>
            <a:ext cx="1554480" cy="548640"/>
          </a:xfrm>
          <a:prstGeom prst="rect">
            <a:avLst/>
          </a:prstGeom>
          <a:noFill/>
          <a:ln/>
        </p:spPr>
        <p:txBody>
          <a:bodyPr wrap="square" rtlCol="0" anchor="ctr"/>
          <a:lstStyle/>
          <a:p>
            <a:pPr marL="0" indent="0" algn="ctr">
              <a:buNone/>
            </a:pPr>
            <a:r>
              <a:rPr lang="en-US" sz="950" b="1" dirty="0">
                <a:solidFill>
                  <a:srgbClr val="FFFFFF"/>
                </a:solidFill>
                <a:latin typeface="Segoe UI" pitchFamily="34" charset="0"/>
                <a:ea typeface="Segoe UI" pitchFamily="34" charset="-122"/>
                <a:cs typeface="Segoe UI" pitchFamily="34" charset="-120"/>
              </a:rPr>
              <a:t>History</a:t>
            </a:r>
            <a:endParaRPr lang="en-US" sz="950" dirty="0"/>
          </a:p>
          <a:p>
            <a:pPr marL="0" indent="0" algn="ctr">
              <a:buNone/>
            </a:pPr>
            <a:r>
              <a:rPr lang="en-US" sz="950" b="1" dirty="0">
                <a:solidFill>
                  <a:srgbClr val="FFFFFF"/>
                </a:solidFill>
                <a:latin typeface="Segoe UI" pitchFamily="34" charset="0"/>
                <a:ea typeface="Segoe UI" pitchFamily="34" charset="-122"/>
                <a:cs typeface="Segoe UI" pitchFamily="34" charset="-120"/>
              </a:rPr>
              <a:t>(Nhật ký bảo dưỡng)</a:t>
            </a:r>
            <a:endParaRPr lang="en-US" sz="950" dirty="0"/>
          </a:p>
        </p:txBody>
      </p:sp>
      <p:sp>
        <p:nvSpPr>
          <p:cNvPr id="26" name="Shape 24"/>
          <p:cNvSpPr/>
          <p:nvPr/>
        </p:nvSpPr>
        <p:spPr>
          <a:xfrm>
            <a:off x="7040880" y="2468880"/>
            <a:ext cx="731520" cy="0"/>
          </a:xfrm>
          <a:prstGeom prst="line">
            <a:avLst/>
          </a:prstGeom>
          <a:noFill/>
          <a:ln w="19050">
            <a:solidFill>
              <a:srgbClr val="94A3B8"/>
            </a:solidFill>
            <a:prstDash val="solid"/>
          </a:ln>
        </p:spPr>
      </p:sp>
      <p:sp>
        <p:nvSpPr>
          <p:cNvPr id="27" name="Shape 25"/>
          <p:cNvSpPr/>
          <p:nvPr/>
        </p:nvSpPr>
        <p:spPr>
          <a:xfrm>
            <a:off x="9052560" y="2468880"/>
            <a:ext cx="731520" cy="0"/>
          </a:xfrm>
          <a:prstGeom prst="line">
            <a:avLst/>
          </a:prstGeom>
          <a:noFill/>
          <a:ln w="19050">
            <a:solidFill>
              <a:srgbClr val="94A3B8"/>
            </a:solidFill>
            <a:prstDash val="solid"/>
          </a:ln>
        </p:spPr>
      </p:sp>
      <p:sp>
        <p:nvSpPr>
          <p:cNvPr id="28" name="Shape 26"/>
          <p:cNvSpPr/>
          <p:nvPr/>
        </p:nvSpPr>
        <p:spPr>
          <a:xfrm>
            <a:off x="6400800" y="2743200"/>
            <a:ext cx="0" cy="457200"/>
          </a:xfrm>
          <a:prstGeom prst="line">
            <a:avLst/>
          </a:prstGeom>
          <a:noFill/>
          <a:ln w="19050">
            <a:solidFill>
              <a:srgbClr val="94A3B8"/>
            </a:solidFill>
            <a:prstDash val="solid"/>
          </a:ln>
        </p:spPr>
      </p:sp>
      <p:sp>
        <p:nvSpPr>
          <p:cNvPr id="29" name="Shape 27"/>
          <p:cNvSpPr/>
          <p:nvPr/>
        </p:nvSpPr>
        <p:spPr>
          <a:xfrm>
            <a:off x="8412480" y="2743200"/>
            <a:ext cx="0" cy="457200"/>
          </a:xfrm>
          <a:prstGeom prst="line">
            <a:avLst/>
          </a:prstGeom>
          <a:noFill/>
          <a:ln w="19050">
            <a:solidFill>
              <a:srgbClr val="94A3B8"/>
            </a:solidFill>
            <a:prstDash val="solid"/>
          </a:ln>
        </p:spPr>
      </p:sp>
      <p:sp>
        <p:nvSpPr>
          <p:cNvPr id="30" name="Shape 28"/>
          <p:cNvSpPr/>
          <p:nvPr/>
        </p:nvSpPr>
        <p:spPr>
          <a:xfrm>
            <a:off x="6400800" y="3749040"/>
            <a:ext cx="0" cy="457200"/>
          </a:xfrm>
          <a:prstGeom prst="line">
            <a:avLst/>
          </a:prstGeom>
          <a:noFill/>
          <a:ln w="19050">
            <a:solidFill>
              <a:srgbClr val="94A3B8"/>
            </a:solidFill>
            <a:prstDash val="solid"/>
          </a:ln>
        </p:spPr>
      </p:sp>
      <p:sp>
        <p:nvSpPr>
          <p:cNvPr id="31" name="Shape 29"/>
          <p:cNvSpPr/>
          <p:nvPr/>
        </p:nvSpPr>
        <p:spPr>
          <a:xfrm>
            <a:off x="7040880" y="4480560"/>
            <a:ext cx="731520" cy="0"/>
          </a:xfrm>
          <a:prstGeom prst="line">
            <a:avLst/>
          </a:prstGeom>
          <a:noFill/>
          <a:ln w="19050">
            <a:solidFill>
              <a:srgbClr val="94A3B8"/>
            </a:solidFill>
            <a:prstDash val="solid"/>
          </a:ln>
        </p:spPr>
      </p:sp>
      <p:sp>
        <p:nvSpPr>
          <p:cNvPr id="32" name="Shape 30"/>
          <p:cNvSpPr/>
          <p:nvPr/>
        </p:nvSpPr>
        <p:spPr>
          <a:xfrm>
            <a:off x="9052560" y="4480560"/>
            <a:ext cx="731520" cy="0"/>
          </a:xfrm>
          <a:prstGeom prst="line">
            <a:avLst/>
          </a:prstGeom>
          <a:noFill/>
          <a:ln w="19050">
            <a:solidFill>
              <a:srgbClr val="94A3B8"/>
            </a:solidFill>
            <a:prstDash val="solid"/>
          </a:ln>
        </p:spPr>
      </p:sp>
      <p:sp>
        <p:nvSpPr>
          <p:cNvPr id="33" name="Shape 31"/>
          <p:cNvSpPr/>
          <p:nvPr/>
        </p:nvSpPr>
        <p:spPr>
          <a:xfrm>
            <a:off x="8412480" y="2743200"/>
            <a:ext cx="0" cy="1463040"/>
          </a:xfrm>
          <a:prstGeom prst="line">
            <a:avLst/>
          </a:prstGeom>
          <a:noFill/>
          <a:ln w="19050">
            <a:solidFill>
              <a:srgbClr val="94A3B8"/>
            </a:solidFill>
            <a:prstDash val="solid"/>
          </a:ln>
        </p:spPr>
      </p:sp>
      <p:sp>
        <p:nvSpPr>
          <p:cNvPr id="34" name="Text 32"/>
          <p:cNvSpPr/>
          <p:nvPr/>
        </p:nvSpPr>
        <p:spPr>
          <a:xfrm>
            <a:off x="5669280" y="5029200"/>
            <a:ext cx="5760720" cy="914400"/>
          </a:xfrm>
          <a:prstGeom prst="rect">
            <a:avLst/>
          </a:prstGeom>
          <a:noFill/>
          <a:ln/>
        </p:spPr>
        <p:txBody>
          <a:bodyPr wrap="square" rtlCol="0" anchor="ctr"/>
          <a:lstStyle/>
          <a:p>
            <a:pPr marL="0" indent="0">
              <a:lnSpc>
                <a:spcPts val="1500"/>
              </a:lnSpc>
              <a:buNone/>
            </a:pPr>
            <a:r>
              <a:rPr lang="en-US" sz="1050" i="1" dirty="0">
                <a:solidFill>
                  <a:srgbClr val="475569"/>
                </a:solidFill>
                <a:latin typeface="Segoe UI" pitchFamily="34" charset="0"/>
                <a:ea typeface="Segoe UI" pitchFamily="34" charset="-122"/>
                <a:cs typeface="Segoe UI" pitchFamily="34" charset="-120"/>
              </a:rPr>
              <a:t>Sơ đồ mô tả cấu trúc quan hệ: Users lưu thông tin tài khoản; Vehicles lưu trữ phương tiện của User; LegalDocuments theo dõi Đăng kiểm/Bảo hiểm; Schedules quản lý mốc bảo dưỡng định kỳ; Appointments &amp; History quản lý đặt lịch và dịch vụ sửa chữa của Gara.</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 cy="685800"/>
          </a:xfrm>
          <a:prstGeom prst="rect">
            <a:avLst/>
          </a:prstGeom>
          <a:solidFill>
            <a:srgbClr val="2563EB"/>
          </a:solidFill>
          <a:ln w="12700">
            <a:solidFill>
              <a:srgbClr val="2563EB"/>
            </a:solidFill>
            <a:prstDash val="solid"/>
          </a:ln>
        </p:spPr>
      </p:sp>
      <p:sp>
        <p:nvSpPr>
          <p:cNvPr id="3" name="Text 1"/>
          <p:cNvSpPr/>
          <p:nvPr/>
        </p:nvSpPr>
        <p:spPr>
          <a:xfrm>
            <a:off x="731520" y="365760"/>
            <a:ext cx="10789920" cy="411480"/>
          </a:xfrm>
          <a:prstGeom prst="rect">
            <a:avLst/>
          </a:prstGeom>
          <a:noFill/>
          <a:ln/>
        </p:spPr>
        <p:txBody>
          <a:bodyPr wrap="square" rtlCol="0" anchor="ctr"/>
          <a:lstStyle/>
          <a:p>
            <a:pPr marL="0" indent="0">
              <a:buNone/>
            </a:pPr>
            <a:r>
              <a:rPr lang="en-US" sz="2000" b="1" dirty="0">
                <a:solidFill>
                  <a:srgbClr val="2563EB"/>
                </a:solidFill>
                <a:latin typeface="Segoe UI" pitchFamily="34" charset="0"/>
                <a:ea typeface="Segoe UI" pitchFamily="34" charset="-122"/>
                <a:cs typeface="Segoe UI" pitchFamily="34" charset="-120"/>
              </a:rPr>
              <a:t>03. QUY TRÌNH ỨNG DỤNG PHƯƠNG PHÁP VIBE CODING</a:t>
            </a:r>
            <a:endParaRPr lang="en-US" sz="2000" dirty="0"/>
          </a:p>
        </p:txBody>
      </p:sp>
      <p:sp>
        <p:nvSpPr>
          <p:cNvPr id="4" name="Text 2"/>
          <p:cNvSpPr/>
          <p:nvPr/>
        </p:nvSpPr>
        <p:spPr>
          <a:xfrm>
            <a:off x="731520" y="777240"/>
            <a:ext cx="10789920" cy="320040"/>
          </a:xfrm>
          <a:prstGeom prst="rect">
            <a:avLst/>
          </a:prstGeom>
          <a:noFill/>
          <a:ln/>
        </p:spPr>
        <p:txBody>
          <a:bodyPr wrap="square" rtlCol="0" anchor="ctr"/>
          <a:lstStyle/>
          <a:p>
            <a:pPr marL="0" indent="0">
              <a:buNone/>
            </a:pPr>
            <a:r>
              <a:rPr lang="en-US" sz="1300" dirty="0">
                <a:solidFill>
                  <a:srgbClr val="475569"/>
                </a:solidFill>
                <a:latin typeface="Segoe UI" pitchFamily="34" charset="0"/>
                <a:ea typeface="Segoe UI" pitchFamily="34" charset="-122"/>
                <a:cs typeface="Segoe UI" pitchFamily="34" charset="-120"/>
              </a:rPr>
              <a:t>Phương thức phát triển hệ thống nhanh chóng bằng việc tương tác với AI Agent/Copilot</a:t>
            </a:r>
            <a:endParaRPr lang="en-US" sz="1300" dirty="0"/>
          </a:p>
        </p:txBody>
      </p:sp>
      <p:sp>
        <p:nvSpPr>
          <p:cNvPr id="5" name="Text 3"/>
          <p:cNvSpPr/>
          <p:nvPr/>
        </p:nvSpPr>
        <p:spPr>
          <a:xfrm>
            <a:off x="548640" y="1280160"/>
            <a:ext cx="11091672" cy="548640"/>
          </a:xfrm>
          <a:prstGeom prst="rect">
            <a:avLst/>
          </a:prstGeom>
          <a:noFill/>
          <a:ln/>
        </p:spPr>
        <p:txBody>
          <a:bodyPr wrap="square" rtlCol="0" anchor="ctr"/>
          <a:lstStyle/>
          <a:p>
            <a:pPr marL="0" indent="0">
              <a:buNone/>
            </a:pPr>
            <a:r>
              <a:rPr lang="en-US" sz="1400" i="1" dirty="0">
                <a:solidFill>
                  <a:srgbClr val="475569"/>
                </a:solidFill>
                <a:latin typeface="Segoe UI" pitchFamily="34" charset="0"/>
                <a:ea typeface="Segoe UI" pitchFamily="34" charset="-122"/>
                <a:cs typeface="Segoe UI" pitchFamily="34" charset="-120"/>
              </a:rPr>
              <a:t>Vibe Coding chuyển đổi vai trò lập trình viên thành người định hướng thiết kế và kiểm soát nghiệp vụ cấp cao, để AI Agent thực hiện tự động các khâu sinh mã chi tiết (code generation) và sửa lỗi (debugging).</a:t>
            </a:r>
            <a:endParaRPr lang="en-US" sz="1400" dirty="0"/>
          </a:p>
        </p:txBody>
      </p:sp>
      <p:sp>
        <p:nvSpPr>
          <p:cNvPr id="6" name="Shape 4"/>
          <p:cNvSpPr/>
          <p:nvPr/>
        </p:nvSpPr>
        <p:spPr>
          <a:xfrm>
            <a:off x="548640" y="1920240"/>
            <a:ext cx="2560320" cy="4389120"/>
          </a:xfrm>
          <a:prstGeom prst="roundRect">
            <a:avLst/>
          </a:prstGeom>
          <a:solidFill>
            <a:srgbClr val="FFFFFF"/>
          </a:solidFill>
          <a:ln w="19050">
            <a:solidFill>
              <a:srgbClr val="E2E8F0"/>
            </a:solidFill>
            <a:prstDash val="solid"/>
          </a:ln>
        </p:spPr>
      </p:sp>
      <p:sp>
        <p:nvSpPr>
          <p:cNvPr id="7" name="Shape 5"/>
          <p:cNvSpPr/>
          <p:nvPr/>
        </p:nvSpPr>
        <p:spPr>
          <a:xfrm>
            <a:off x="548640" y="1920240"/>
            <a:ext cx="2560320" cy="109728"/>
          </a:xfrm>
          <a:prstGeom prst="rect">
            <a:avLst/>
          </a:prstGeom>
          <a:solidFill>
            <a:srgbClr val="2563EB"/>
          </a:solidFill>
          <a:ln w="12700">
            <a:solidFill>
              <a:srgbClr val="2563EB"/>
            </a:solidFill>
            <a:prstDash val="solid"/>
          </a:ln>
        </p:spPr>
      </p:sp>
      <p:sp>
        <p:nvSpPr>
          <p:cNvPr id="8" name="Text 6"/>
          <p:cNvSpPr/>
          <p:nvPr/>
        </p:nvSpPr>
        <p:spPr>
          <a:xfrm>
            <a:off x="731520" y="2194560"/>
            <a:ext cx="2194560" cy="274320"/>
          </a:xfrm>
          <a:prstGeom prst="rect">
            <a:avLst/>
          </a:prstGeom>
          <a:noFill/>
          <a:ln/>
        </p:spPr>
        <p:txBody>
          <a:bodyPr wrap="square" rtlCol="0" anchor="ctr"/>
          <a:lstStyle/>
          <a:p>
            <a:pPr marL="0" indent="0">
              <a:buNone/>
            </a:pPr>
            <a:r>
              <a:rPr lang="en-US" sz="1100" b="1" dirty="0">
                <a:solidFill>
                  <a:srgbClr val="2563EB"/>
                </a:solidFill>
                <a:latin typeface="Segoe UI" pitchFamily="34" charset="0"/>
                <a:ea typeface="Segoe UI" pitchFamily="34" charset="-122"/>
                <a:cs typeface="Segoe UI" pitchFamily="34" charset="-120"/>
              </a:rPr>
              <a:t>BƯỚC 01</a:t>
            </a:r>
            <a:endParaRPr lang="en-US" sz="1100" dirty="0"/>
          </a:p>
        </p:txBody>
      </p:sp>
      <p:sp>
        <p:nvSpPr>
          <p:cNvPr id="9" name="Text 7"/>
          <p:cNvSpPr/>
          <p:nvPr/>
        </p:nvSpPr>
        <p:spPr>
          <a:xfrm>
            <a:off x="731520" y="2468880"/>
            <a:ext cx="2194560" cy="45720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ĐẶC TẢ NGHIỆP VỤ</a:t>
            </a:r>
            <a:endParaRPr lang="en-US" sz="1400" dirty="0"/>
          </a:p>
        </p:txBody>
      </p:sp>
      <p:sp>
        <p:nvSpPr>
          <p:cNvPr id="10" name="Text 8"/>
          <p:cNvSpPr/>
          <p:nvPr/>
        </p:nvSpPr>
        <p:spPr>
          <a:xfrm>
            <a:off x="731520" y="3017520"/>
            <a:ext cx="2194560" cy="3108960"/>
          </a:xfrm>
          <a:prstGeom prst="rect">
            <a:avLst/>
          </a:prstGeom>
          <a:noFill/>
          <a:ln/>
        </p:spPr>
        <p:txBody>
          <a:bodyPr wrap="square" rtlCol="0" anchor="ctr"/>
          <a:lstStyle/>
          <a:p>
            <a:pPr marL="0" indent="0">
              <a:lnSpc>
                <a:spcPts val="1800"/>
              </a:lnSpc>
              <a:buNone/>
            </a:pPr>
            <a:r>
              <a:rPr lang="en-US" sz="1150" dirty="0">
                <a:solidFill>
                  <a:srgbClr val="475569"/>
                </a:solidFill>
                <a:latin typeface="Segoe UI" pitchFamily="34" charset="0"/>
                <a:ea typeface="Segoe UI" pitchFamily="34" charset="-122"/>
                <a:cs typeface="Segoe UI" pitchFamily="34" charset="-120"/>
              </a:rPr>
              <a:t>Biên soạn tài liệu đặc tả `module.md` chi tiết từ cấu trúc Database, các API Endpoints đến quy trình logic. Đây là nguồn định hướng bối cảnh chuẩn (Single Source of Truth) để AI Agent hiểu rõ yêu cầu hệ thống.</a:t>
            </a:r>
            <a:endParaRPr lang="en-US" sz="1150" dirty="0"/>
          </a:p>
        </p:txBody>
      </p:sp>
      <p:sp>
        <p:nvSpPr>
          <p:cNvPr id="11" name="Shape 9"/>
          <p:cNvSpPr/>
          <p:nvPr/>
        </p:nvSpPr>
        <p:spPr>
          <a:xfrm>
            <a:off x="3392424" y="1920240"/>
            <a:ext cx="2560320" cy="4389120"/>
          </a:xfrm>
          <a:prstGeom prst="roundRect">
            <a:avLst/>
          </a:prstGeom>
          <a:solidFill>
            <a:srgbClr val="FFFFFF"/>
          </a:solidFill>
          <a:ln w="19050">
            <a:solidFill>
              <a:srgbClr val="E2E8F0"/>
            </a:solidFill>
            <a:prstDash val="solid"/>
          </a:ln>
        </p:spPr>
      </p:sp>
      <p:sp>
        <p:nvSpPr>
          <p:cNvPr id="12" name="Shape 10"/>
          <p:cNvSpPr/>
          <p:nvPr/>
        </p:nvSpPr>
        <p:spPr>
          <a:xfrm>
            <a:off x="3392424" y="1920240"/>
            <a:ext cx="2560320" cy="109728"/>
          </a:xfrm>
          <a:prstGeom prst="rect">
            <a:avLst/>
          </a:prstGeom>
          <a:solidFill>
            <a:srgbClr val="0D9488"/>
          </a:solidFill>
          <a:ln w="12700">
            <a:solidFill>
              <a:srgbClr val="0D9488"/>
            </a:solidFill>
            <a:prstDash val="solid"/>
          </a:ln>
        </p:spPr>
      </p:sp>
      <p:sp>
        <p:nvSpPr>
          <p:cNvPr id="13" name="Text 11"/>
          <p:cNvSpPr/>
          <p:nvPr/>
        </p:nvSpPr>
        <p:spPr>
          <a:xfrm>
            <a:off x="3575304" y="2194560"/>
            <a:ext cx="2194560" cy="274320"/>
          </a:xfrm>
          <a:prstGeom prst="rect">
            <a:avLst/>
          </a:prstGeom>
          <a:noFill/>
          <a:ln/>
        </p:spPr>
        <p:txBody>
          <a:bodyPr wrap="square" rtlCol="0" anchor="ctr"/>
          <a:lstStyle/>
          <a:p>
            <a:pPr marL="0" indent="0">
              <a:buNone/>
            </a:pPr>
            <a:r>
              <a:rPr lang="en-US" sz="1100" b="1" dirty="0">
                <a:solidFill>
                  <a:srgbClr val="0D9488"/>
                </a:solidFill>
                <a:latin typeface="Segoe UI" pitchFamily="34" charset="0"/>
                <a:ea typeface="Segoe UI" pitchFamily="34" charset="-122"/>
                <a:cs typeface="Segoe UI" pitchFamily="34" charset="-120"/>
              </a:rPr>
              <a:t>BƯỚC 02</a:t>
            </a:r>
            <a:endParaRPr lang="en-US" sz="1100" dirty="0"/>
          </a:p>
        </p:txBody>
      </p:sp>
      <p:sp>
        <p:nvSpPr>
          <p:cNvPr id="14" name="Text 12"/>
          <p:cNvSpPr/>
          <p:nvPr/>
        </p:nvSpPr>
        <p:spPr>
          <a:xfrm>
            <a:off x="3575304" y="2468880"/>
            <a:ext cx="2194560" cy="45720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SINH MÃ NGUỒN</a:t>
            </a:r>
            <a:endParaRPr lang="en-US" sz="1400" dirty="0"/>
          </a:p>
        </p:txBody>
      </p:sp>
      <p:sp>
        <p:nvSpPr>
          <p:cNvPr id="15" name="Text 13"/>
          <p:cNvSpPr/>
          <p:nvPr/>
        </p:nvSpPr>
        <p:spPr>
          <a:xfrm>
            <a:off x="3575304" y="3017520"/>
            <a:ext cx="2194560" cy="3108960"/>
          </a:xfrm>
          <a:prstGeom prst="rect">
            <a:avLst/>
          </a:prstGeom>
          <a:noFill/>
          <a:ln/>
        </p:spPr>
        <p:txBody>
          <a:bodyPr wrap="square" rtlCol="0" anchor="ctr"/>
          <a:lstStyle/>
          <a:p>
            <a:pPr marL="0" indent="0">
              <a:lnSpc>
                <a:spcPts val="1800"/>
              </a:lnSpc>
              <a:buNone/>
            </a:pPr>
            <a:r>
              <a:rPr lang="en-US" sz="1150" dirty="0">
                <a:solidFill>
                  <a:srgbClr val="475569"/>
                </a:solidFill>
                <a:latin typeface="Segoe UI" pitchFamily="34" charset="0"/>
                <a:ea typeface="Segoe UI" pitchFamily="34" charset="-122"/>
                <a:cs typeface="Segoe UI" pitchFamily="34" charset="-120"/>
              </a:rPr>
              <a:t>Sử dụng AI để tự động phát sinh khung mã nguồn Back-end (Nest.js modules, controllers, DTOs) và giao diện Front-end (React + Tailwind CSS). Người dùng chỉ cần copy-paste các component chuẩn hóa.</a:t>
            </a:r>
            <a:endParaRPr lang="en-US" sz="1150" dirty="0"/>
          </a:p>
        </p:txBody>
      </p:sp>
      <p:sp>
        <p:nvSpPr>
          <p:cNvPr id="16" name="Shape 14"/>
          <p:cNvSpPr/>
          <p:nvPr/>
        </p:nvSpPr>
        <p:spPr>
          <a:xfrm>
            <a:off x="6236208" y="1920240"/>
            <a:ext cx="2560320" cy="4389120"/>
          </a:xfrm>
          <a:prstGeom prst="roundRect">
            <a:avLst/>
          </a:prstGeom>
          <a:solidFill>
            <a:srgbClr val="FFFFFF"/>
          </a:solidFill>
          <a:ln w="19050">
            <a:solidFill>
              <a:srgbClr val="E2E8F0"/>
            </a:solidFill>
            <a:prstDash val="solid"/>
          </a:ln>
        </p:spPr>
      </p:sp>
      <p:sp>
        <p:nvSpPr>
          <p:cNvPr id="17" name="Shape 15"/>
          <p:cNvSpPr/>
          <p:nvPr/>
        </p:nvSpPr>
        <p:spPr>
          <a:xfrm>
            <a:off x="6236208" y="1920240"/>
            <a:ext cx="2560320" cy="109728"/>
          </a:xfrm>
          <a:prstGeom prst="rect">
            <a:avLst/>
          </a:prstGeom>
          <a:solidFill>
            <a:srgbClr val="D97706"/>
          </a:solidFill>
          <a:ln w="12700">
            <a:solidFill>
              <a:srgbClr val="D97706"/>
            </a:solidFill>
            <a:prstDash val="solid"/>
          </a:ln>
        </p:spPr>
      </p:sp>
      <p:sp>
        <p:nvSpPr>
          <p:cNvPr id="18" name="Text 16"/>
          <p:cNvSpPr/>
          <p:nvPr/>
        </p:nvSpPr>
        <p:spPr>
          <a:xfrm>
            <a:off x="6419088" y="2194560"/>
            <a:ext cx="2194560" cy="274320"/>
          </a:xfrm>
          <a:prstGeom prst="rect">
            <a:avLst/>
          </a:prstGeom>
          <a:noFill/>
          <a:ln/>
        </p:spPr>
        <p:txBody>
          <a:bodyPr wrap="square" rtlCol="0" anchor="ctr"/>
          <a:lstStyle/>
          <a:p>
            <a:pPr marL="0" indent="0">
              <a:buNone/>
            </a:pPr>
            <a:r>
              <a:rPr lang="en-US" sz="1100" b="1" dirty="0">
                <a:solidFill>
                  <a:srgbClr val="D97706"/>
                </a:solidFill>
                <a:latin typeface="Segoe UI" pitchFamily="34" charset="0"/>
                <a:ea typeface="Segoe UI" pitchFamily="34" charset="-122"/>
                <a:cs typeface="Segoe UI" pitchFamily="34" charset="-120"/>
              </a:rPr>
              <a:t>BƯỚC 03</a:t>
            </a:r>
            <a:endParaRPr lang="en-US" sz="1100" dirty="0"/>
          </a:p>
        </p:txBody>
      </p:sp>
      <p:sp>
        <p:nvSpPr>
          <p:cNvPr id="19" name="Text 17"/>
          <p:cNvSpPr/>
          <p:nvPr/>
        </p:nvSpPr>
        <p:spPr>
          <a:xfrm>
            <a:off x="6419088" y="2468880"/>
            <a:ext cx="2194560" cy="45720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GỠ LỖI TƯƠNG TÁC</a:t>
            </a:r>
            <a:endParaRPr lang="en-US" sz="1400" dirty="0"/>
          </a:p>
        </p:txBody>
      </p:sp>
      <p:sp>
        <p:nvSpPr>
          <p:cNvPr id="20" name="Text 18"/>
          <p:cNvSpPr/>
          <p:nvPr/>
        </p:nvSpPr>
        <p:spPr>
          <a:xfrm>
            <a:off x="6419088" y="3017520"/>
            <a:ext cx="2194560" cy="3108960"/>
          </a:xfrm>
          <a:prstGeom prst="rect">
            <a:avLst/>
          </a:prstGeom>
          <a:noFill/>
          <a:ln/>
        </p:spPr>
        <p:txBody>
          <a:bodyPr wrap="square" rtlCol="0" anchor="ctr"/>
          <a:lstStyle/>
          <a:p>
            <a:pPr marL="0" indent="0">
              <a:lnSpc>
                <a:spcPts val="1800"/>
              </a:lnSpc>
              <a:buNone/>
            </a:pPr>
            <a:r>
              <a:rPr lang="en-US" sz="1150" dirty="0">
                <a:solidFill>
                  <a:srgbClr val="475569"/>
                </a:solidFill>
                <a:latin typeface="Segoe UI" pitchFamily="34" charset="0"/>
                <a:ea typeface="Segoe UI" pitchFamily="34" charset="-122"/>
                <a:cs typeface="Segoe UI" pitchFamily="34" charset="-120"/>
              </a:rPr>
              <a:t>Trong quá trình tích hợp, gửi trực tiếp thông báo lỗi SQL Server, log kiểm thử API, hoặc các file mã lỗi cho AI Agent. AI nhanh chóng phân tích nguyên nhân và đưa ra giải pháp sửa đổi tức thời.</a:t>
            </a:r>
            <a:endParaRPr lang="en-US" sz="1150" dirty="0"/>
          </a:p>
        </p:txBody>
      </p:sp>
      <p:sp>
        <p:nvSpPr>
          <p:cNvPr id="21" name="Shape 19"/>
          <p:cNvSpPr/>
          <p:nvPr/>
        </p:nvSpPr>
        <p:spPr>
          <a:xfrm>
            <a:off x="9079992" y="1920240"/>
            <a:ext cx="2560320" cy="4389120"/>
          </a:xfrm>
          <a:prstGeom prst="roundRect">
            <a:avLst/>
          </a:prstGeom>
          <a:solidFill>
            <a:srgbClr val="FFFFFF"/>
          </a:solidFill>
          <a:ln w="19050">
            <a:solidFill>
              <a:srgbClr val="E2E8F0"/>
            </a:solidFill>
            <a:prstDash val="solid"/>
          </a:ln>
        </p:spPr>
      </p:sp>
      <p:sp>
        <p:nvSpPr>
          <p:cNvPr id="22" name="Shape 20"/>
          <p:cNvSpPr/>
          <p:nvPr/>
        </p:nvSpPr>
        <p:spPr>
          <a:xfrm>
            <a:off x="9079992" y="1920240"/>
            <a:ext cx="2560320" cy="109728"/>
          </a:xfrm>
          <a:prstGeom prst="rect">
            <a:avLst/>
          </a:prstGeom>
          <a:solidFill>
            <a:srgbClr val="DC2626"/>
          </a:solidFill>
          <a:ln w="12700">
            <a:solidFill>
              <a:srgbClr val="DC2626"/>
            </a:solidFill>
            <a:prstDash val="solid"/>
          </a:ln>
        </p:spPr>
      </p:sp>
      <p:sp>
        <p:nvSpPr>
          <p:cNvPr id="23" name="Text 21"/>
          <p:cNvSpPr/>
          <p:nvPr/>
        </p:nvSpPr>
        <p:spPr>
          <a:xfrm>
            <a:off x="9262872" y="2194560"/>
            <a:ext cx="2194560" cy="274320"/>
          </a:xfrm>
          <a:prstGeom prst="rect">
            <a:avLst/>
          </a:prstGeom>
          <a:noFill/>
          <a:ln/>
        </p:spPr>
        <p:txBody>
          <a:bodyPr wrap="square" rtlCol="0" anchor="ctr"/>
          <a:lstStyle/>
          <a:p>
            <a:pPr marL="0" indent="0">
              <a:buNone/>
            </a:pPr>
            <a:r>
              <a:rPr lang="en-US" sz="1100" b="1" dirty="0">
                <a:solidFill>
                  <a:srgbClr val="DC2626"/>
                </a:solidFill>
                <a:latin typeface="Segoe UI" pitchFamily="34" charset="0"/>
                <a:ea typeface="Segoe UI" pitchFamily="34" charset="-122"/>
                <a:cs typeface="Segoe UI" pitchFamily="34" charset="-120"/>
              </a:rPr>
              <a:t>BƯỚC 04</a:t>
            </a:r>
            <a:endParaRPr lang="en-US" sz="1100" dirty="0"/>
          </a:p>
        </p:txBody>
      </p:sp>
      <p:sp>
        <p:nvSpPr>
          <p:cNvPr id="24" name="Text 22"/>
          <p:cNvSpPr/>
          <p:nvPr/>
        </p:nvSpPr>
        <p:spPr>
          <a:xfrm>
            <a:off x="9262872" y="2468880"/>
            <a:ext cx="2194560" cy="457200"/>
          </a:xfrm>
          <a:prstGeom prst="rect">
            <a:avLst/>
          </a:prstGeom>
          <a:noFill/>
          <a:ln/>
        </p:spPr>
        <p:txBody>
          <a:bodyPr wrap="square" rtlCol="0" anchor="ctr"/>
          <a:lstStyle/>
          <a:p>
            <a:pPr marL="0" indent="0">
              <a:buNone/>
            </a:pPr>
            <a:r>
              <a:rPr lang="en-US" sz="1400" b="1" dirty="0">
                <a:solidFill>
                  <a:srgbClr val="0F172A"/>
                </a:solidFill>
                <a:latin typeface="Segoe UI" pitchFamily="34" charset="0"/>
                <a:ea typeface="Segoe UI" pitchFamily="34" charset="-122"/>
                <a:cs typeface="Segoe UI" pitchFamily="34" charset="-120"/>
              </a:rPr>
              <a:t>TEST &amp; TỐI ƯU HÓA</a:t>
            </a:r>
            <a:endParaRPr lang="en-US" sz="1400" dirty="0"/>
          </a:p>
        </p:txBody>
      </p:sp>
      <p:sp>
        <p:nvSpPr>
          <p:cNvPr id="25" name="Text 23"/>
          <p:cNvSpPr/>
          <p:nvPr/>
        </p:nvSpPr>
        <p:spPr>
          <a:xfrm>
            <a:off x="9262872" y="3017520"/>
            <a:ext cx="2194560" cy="3108960"/>
          </a:xfrm>
          <a:prstGeom prst="rect">
            <a:avLst/>
          </a:prstGeom>
          <a:noFill/>
          <a:ln/>
        </p:spPr>
        <p:txBody>
          <a:bodyPr wrap="square" rtlCol="0" anchor="ctr"/>
          <a:lstStyle/>
          <a:p>
            <a:pPr marL="0" indent="0">
              <a:lnSpc>
                <a:spcPts val="1800"/>
              </a:lnSpc>
              <a:buNone/>
            </a:pPr>
            <a:r>
              <a:rPr lang="en-US" sz="1150" dirty="0">
                <a:solidFill>
                  <a:srgbClr val="475569"/>
                </a:solidFill>
                <a:latin typeface="Segoe UI" pitchFamily="34" charset="0"/>
                <a:ea typeface="Segoe UI" pitchFamily="34" charset="-122"/>
                <a:cs typeface="Segoe UI" pitchFamily="34" charset="-120"/>
              </a:rPr>
              <a:t>Nhờ AI xây dựng các kịch bản kiểm thử chi tiết (`test_scenarios.md`) cho từng module và chạy thử nghiệm. AI cũng hỗ trợ viết các câu truy vấn SQL tối ưu chỉ mục (index) và dọn dẹp code dư thừa.</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 cy="685800"/>
          </a:xfrm>
          <a:prstGeom prst="rect">
            <a:avLst/>
          </a:prstGeom>
          <a:solidFill>
            <a:srgbClr val="2563EB"/>
          </a:solidFill>
          <a:ln w="12700">
            <a:solidFill>
              <a:srgbClr val="2563EB"/>
            </a:solidFill>
            <a:prstDash val="solid"/>
          </a:ln>
        </p:spPr>
      </p:sp>
      <p:sp>
        <p:nvSpPr>
          <p:cNvPr id="3" name="Text 1"/>
          <p:cNvSpPr/>
          <p:nvPr/>
        </p:nvSpPr>
        <p:spPr>
          <a:xfrm>
            <a:off x="731520" y="365760"/>
            <a:ext cx="10789920" cy="411480"/>
          </a:xfrm>
          <a:prstGeom prst="rect">
            <a:avLst/>
          </a:prstGeom>
          <a:noFill/>
          <a:ln/>
        </p:spPr>
        <p:txBody>
          <a:bodyPr wrap="square" rtlCol="0" anchor="ctr"/>
          <a:lstStyle/>
          <a:p>
            <a:pPr marL="0" indent="0">
              <a:buNone/>
            </a:pPr>
            <a:r>
              <a:rPr lang="en-US" sz="2000" b="1" dirty="0">
                <a:solidFill>
                  <a:srgbClr val="2563EB"/>
                </a:solidFill>
                <a:latin typeface="Segoe UI" pitchFamily="34" charset="0"/>
                <a:ea typeface="Segoe UI" pitchFamily="34" charset="-122"/>
                <a:cs typeface="Segoe UI" pitchFamily="34" charset="-120"/>
              </a:rPr>
              <a:t>04. DEMO &amp; CÁC TÍNH NĂNG CỐT LÕI ẤN TƯỢNG</a:t>
            </a:r>
            <a:endParaRPr lang="en-US" sz="2000" dirty="0"/>
          </a:p>
        </p:txBody>
      </p:sp>
      <p:sp>
        <p:nvSpPr>
          <p:cNvPr id="4" name="Text 2"/>
          <p:cNvSpPr/>
          <p:nvPr/>
        </p:nvSpPr>
        <p:spPr>
          <a:xfrm>
            <a:off x="731520" y="777240"/>
            <a:ext cx="10789920" cy="320040"/>
          </a:xfrm>
          <a:prstGeom prst="rect">
            <a:avLst/>
          </a:prstGeom>
          <a:noFill/>
          <a:ln/>
        </p:spPr>
        <p:txBody>
          <a:bodyPr wrap="square" rtlCol="0" anchor="ctr"/>
          <a:lstStyle/>
          <a:p>
            <a:pPr marL="0" indent="0">
              <a:buNone/>
            </a:pPr>
            <a:r>
              <a:rPr lang="en-US" sz="1300" dirty="0">
                <a:solidFill>
                  <a:srgbClr val="475569"/>
                </a:solidFill>
                <a:latin typeface="Segoe UI" pitchFamily="34" charset="0"/>
                <a:ea typeface="Segoe UI" pitchFamily="34" charset="-122"/>
                <a:cs typeface="Segoe UI" pitchFamily="34" charset="-120"/>
              </a:rPr>
              <a:t>Những tính năng nổi bật tạo nên giá trị ứng dụng thực tiễn cao của ACOH</a:t>
            </a:r>
            <a:endParaRPr lang="en-US" sz="1300" dirty="0"/>
          </a:p>
        </p:txBody>
      </p:sp>
      <p:sp>
        <p:nvSpPr>
          <p:cNvPr id="5" name="Shape 3"/>
          <p:cNvSpPr/>
          <p:nvPr/>
        </p:nvSpPr>
        <p:spPr>
          <a:xfrm>
            <a:off x="548640" y="1554480"/>
            <a:ext cx="5303520" cy="2194560"/>
          </a:xfrm>
          <a:prstGeom prst="roundRect">
            <a:avLst/>
          </a:prstGeom>
          <a:solidFill>
            <a:srgbClr val="FFFFFF"/>
          </a:solidFill>
          <a:ln w="19050">
            <a:solidFill>
              <a:srgbClr val="E2E8F0"/>
            </a:solidFill>
            <a:prstDash val="solid"/>
          </a:ln>
        </p:spPr>
      </p:sp>
      <p:sp>
        <p:nvSpPr>
          <p:cNvPr id="6" name="Shape 4"/>
          <p:cNvSpPr/>
          <p:nvPr/>
        </p:nvSpPr>
        <p:spPr>
          <a:xfrm>
            <a:off x="566928" y="1645920"/>
            <a:ext cx="73152" cy="2011680"/>
          </a:xfrm>
          <a:prstGeom prst="rect">
            <a:avLst/>
          </a:prstGeom>
          <a:solidFill>
            <a:srgbClr val="2563EB"/>
          </a:solidFill>
          <a:ln w="12700">
            <a:solidFill>
              <a:srgbClr val="2563EB"/>
            </a:solidFill>
            <a:prstDash val="solid"/>
          </a:ln>
        </p:spPr>
      </p:sp>
      <p:sp>
        <p:nvSpPr>
          <p:cNvPr id="7" name="Text 5"/>
          <p:cNvSpPr/>
          <p:nvPr/>
        </p:nvSpPr>
        <p:spPr>
          <a:xfrm>
            <a:off x="822960" y="1737360"/>
            <a:ext cx="4846320" cy="365760"/>
          </a:xfrm>
          <a:prstGeom prst="rect">
            <a:avLst/>
          </a:prstGeom>
          <a:noFill/>
          <a:ln/>
        </p:spPr>
        <p:txBody>
          <a:bodyPr wrap="square" rtlCol="0" anchor="ctr"/>
          <a:lstStyle/>
          <a:p>
            <a:pPr marL="0" indent="0">
              <a:buNone/>
            </a:pPr>
            <a:r>
              <a:rPr lang="en-US" sz="1450" b="1" dirty="0">
                <a:solidFill>
                  <a:srgbClr val="0F172A"/>
                </a:solidFill>
                <a:latin typeface="Segoe UI" pitchFamily="34" charset="0"/>
                <a:ea typeface="Segoe UI" pitchFamily="34" charset="-122"/>
                <a:cs typeface="Segoe UI" pitchFamily="34" charset="-120"/>
              </a:rPr>
              <a:t>1. Cảnh báo thông minh &amp; Đăng kiểm</a:t>
            </a:r>
            <a:endParaRPr lang="en-US" sz="1450" dirty="0"/>
          </a:p>
        </p:txBody>
      </p:sp>
      <p:sp>
        <p:nvSpPr>
          <p:cNvPr id="8" name="Text 6"/>
          <p:cNvSpPr/>
          <p:nvPr/>
        </p:nvSpPr>
        <p:spPr>
          <a:xfrm>
            <a:off x="822960" y="2103120"/>
            <a:ext cx="4846320" cy="1463040"/>
          </a:xfrm>
          <a:prstGeom prst="rect">
            <a:avLst/>
          </a:prstGeom>
          <a:noFill/>
          <a:ln/>
        </p:spPr>
        <p:txBody>
          <a:bodyPr wrap="square" rtlCol="0" anchor="ctr"/>
          <a:lstStyle/>
          <a:p>
            <a:pPr marL="0" indent="0">
              <a:lnSpc>
                <a:spcPts val="1600"/>
              </a:lnSpc>
              <a:buNone/>
            </a:pPr>
            <a:r>
              <a:rPr lang="en-US" sz="1100" dirty="0">
                <a:solidFill>
                  <a:srgbClr val="475569"/>
                </a:solidFill>
                <a:latin typeface="Segoe UI" pitchFamily="34" charset="0"/>
                <a:ea typeface="Segoe UI" pitchFamily="34" charset="-122"/>
                <a:cs typeface="Segoe UI" pitchFamily="34" charset="-120"/>
              </a:rPr>
              <a:t>Hệ thống tự động tính toán số ngày hoặc số kilomet còn lại để gửi thông báo kịp thời. Sử dụng thuật toán quét tự động định kỳ (Cron Job lúc 00:00) gửi thông tin qua Email và In-app cho chủ xe. Giao diện trực quan hiển thị màu sắc cảnh báo động (Xanh/Cam/Đỏ) theo hạn mức an toàn.</a:t>
            </a:r>
            <a:endParaRPr lang="en-US" sz="1100" dirty="0"/>
          </a:p>
        </p:txBody>
      </p:sp>
      <p:sp>
        <p:nvSpPr>
          <p:cNvPr id="9" name="Shape 7"/>
          <p:cNvSpPr/>
          <p:nvPr/>
        </p:nvSpPr>
        <p:spPr>
          <a:xfrm>
            <a:off x="6309360" y="1554480"/>
            <a:ext cx="5303520" cy="2194560"/>
          </a:xfrm>
          <a:prstGeom prst="roundRect">
            <a:avLst/>
          </a:prstGeom>
          <a:solidFill>
            <a:srgbClr val="FFFFFF"/>
          </a:solidFill>
          <a:ln w="19050">
            <a:solidFill>
              <a:srgbClr val="E2E8F0"/>
            </a:solidFill>
            <a:prstDash val="solid"/>
          </a:ln>
        </p:spPr>
      </p:sp>
      <p:sp>
        <p:nvSpPr>
          <p:cNvPr id="10" name="Shape 8"/>
          <p:cNvSpPr/>
          <p:nvPr/>
        </p:nvSpPr>
        <p:spPr>
          <a:xfrm>
            <a:off x="6327648" y="1645920"/>
            <a:ext cx="73152" cy="2011680"/>
          </a:xfrm>
          <a:prstGeom prst="rect">
            <a:avLst/>
          </a:prstGeom>
          <a:solidFill>
            <a:srgbClr val="059669"/>
          </a:solidFill>
          <a:ln w="12700">
            <a:solidFill>
              <a:srgbClr val="059669"/>
            </a:solidFill>
            <a:prstDash val="solid"/>
          </a:ln>
        </p:spPr>
      </p:sp>
      <p:sp>
        <p:nvSpPr>
          <p:cNvPr id="11" name="Text 9"/>
          <p:cNvSpPr/>
          <p:nvPr/>
        </p:nvSpPr>
        <p:spPr>
          <a:xfrm>
            <a:off x="6583680" y="1737360"/>
            <a:ext cx="4846320" cy="365760"/>
          </a:xfrm>
          <a:prstGeom prst="rect">
            <a:avLst/>
          </a:prstGeom>
          <a:noFill/>
          <a:ln/>
        </p:spPr>
        <p:txBody>
          <a:bodyPr wrap="square" rtlCol="0" anchor="ctr"/>
          <a:lstStyle/>
          <a:p>
            <a:pPr marL="0" indent="0">
              <a:buNone/>
            </a:pPr>
            <a:r>
              <a:rPr lang="en-US" sz="1450" b="1" dirty="0">
                <a:solidFill>
                  <a:srgbClr val="0F172A"/>
                </a:solidFill>
                <a:latin typeface="Segoe UI" pitchFamily="34" charset="0"/>
                <a:ea typeface="Segoe UI" pitchFamily="34" charset="-122"/>
                <a:cs typeface="Segoe UI" pitchFamily="34" charset="-120"/>
              </a:rPr>
              <a:t>2. Quy trình Đặt lịch - Ghi nhật ký khép kín</a:t>
            </a:r>
            <a:endParaRPr lang="en-US" sz="1450" dirty="0"/>
          </a:p>
        </p:txBody>
      </p:sp>
      <p:sp>
        <p:nvSpPr>
          <p:cNvPr id="12" name="Text 10"/>
          <p:cNvSpPr/>
          <p:nvPr/>
        </p:nvSpPr>
        <p:spPr>
          <a:xfrm>
            <a:off x="6583680" y="2103120"/>
            <a:ext cx="4846320" cy="1463040"/>
          </a:xfrm>
          <a:prstGeom prst="rect">
            <a:avLst/>
          </a:prstGeom>
          <a:noFill/>
          <a:ln/>
        </p:spPr>
        <p:txBody>
          <a:bodyPr wrap="square" rtlCol="0" anchor="ctr"/>
          <a:lstStyle/>
          <a:p>
            <a:pPr marL="0" indent="0">
              <a:lnSpc>
                <a:spcPts val="1600"/>
              </a:lnSpc>
              <a:buNone/>
            </a:pPr>
            <a:r>
              <a:rPr lang="en-US" sz="1100" dirty="0">
                <a:solidFill>
                  <a:srgbClr val="475569"/>
                </a:solidFill>
                <a:latin typeface="Segoe UI" pitchFamily="34" charset="0"/>
                <a:ea typeface="Segoe UI" pitchFamily="34" charset="-122"/>
                <a:cs typeface="Segoe UI" pitchFamily="34" charset="-120"/>
              </a:rPr>
              <a:t>Xây dựng mối liên kết hai chiều chặt chẽ: Chủ xe đặt lịch Gara trực tuyến → Gara tiếp nhận, sửa chữa xe → Gara trực tiếp cập nhật Nhật ký sửa chữa điện tử (tự động lưu số km thực tế, vật tư, đơn giá) → Hệ thống tự động bắn thông báo tức thời đẩy qua app báo khách nhận xe.</a:t>
            </a:r>
            <a:endParaRPr lang="en-US" sz="1100" dirty="0"/>
          </a:p>
        </p:txBody>
      </p:sp>
      <p:sp>
        <p:nvSpPr>
          <p:cNvPr id="13" name="Shape 11"/>
          <p:cNvSpPr/>
          <p:nvPr/>
        </p:nvSpPr>
        <p:spPr>
          <a:xfrm>
            <a:off x="548640" y="4023360"/>
            <a:ext cx="5303520" cy="2194560"/>
          </a:xfrm>
          <a:prstGeom prst="roundRect">
            <a:avLst/>
          </a:prstGeom>
          <a:solidFill>
            <a:srgbClr val="FFFFFF"/>
          </a:solidFill>
          <a:ln w="19050">
            <a:solidFill>
              <a:srgbClr val="E2E8F0"/>
            </a:solidFill>
            <a:prstDash val="solid"/>
          </a:ln>
        </p:spPr>
      </p:sp>
      <p:sp>
        <p:nvSpPr>
          <p:cNvPr id="14" name="Shape 12"/>
          <p:cNvSpPr/>
          <p:nvPr/>
        </p:nvSpPr>
        <p:spPr>
          <a:xfrm>
            <a:off x="566928" y="4114800"/>
            <a:ext cx="73152" cy="2011680"/>
          </a:xfrm>
          <a:prstGeom prst="rect">
            <a:avLst/>
          </a:prstGeom>
          <a:solidFill>
            <a:srgbClr val="D97706"/>
          </a:solidFill>
          <a:ln w="12700">
            <a:solidFill>
              <a:srgbClr val="D97706"/>
            </a:solidFill>
            <a:prstDash val="solid"/>
          </a:ln>
        </p:spPr>
      </p:sp>
      <p:sp>
        <p:nvSpPr>
          <p:cNvPr id="15" name="Text 13"/>
          <p:cNvSpPr/>
          <p:nvPr/>
        </p:nvSpPr>
        <p:spPr>
          <a:xfrm>
            <a:off x="822960" y="4206240"/>
            <a:ext cx="4846320" cy="365760"/>
          </a:xfrm>
          <a:prstGeom prst="rect">
            <a:avLst/>
          </a:prstGeom>
          <a:noFill/>
          <a:ln/>
        </p:spPr>
        <p:txBody>
          <a:bodyPr wrap="square" rtlCol="0" anchor="ctr"/>
          <a:lstStyle/>
          <a:p>
            <a:pPr marL="0" indent="0">
              <a:buNone/>
            </a:pPr>
            <a:r>
              <a:rPr lang="en-US" sz="1450" b="1" dirty="0">
                <a:solidFill>
                  <a:srgbClr val="0F172A"/>
                </a:solidFill>
                <a:latin typeface="Segoe UI" pitchFamily="34" charset="0"/>
                <a:ea typeface="Segoe UI" pitchFamily="34" charset="-122"/>
                <a:cs typeface="Segoe UI" pitchFamily="34" charset="-120"/>
              </a:rPr>
              <a:t>3. Trợ lý ảo AutoCare AI Assistant</a:t>
            </a:r>
            <a:endParaRPr lang="en-US" sz="1450" dirty="0"/>
          </a:p>
        </p:txBody>
      </p:sp>
      <p:sp>
        <p:nvSpPr>
          <p:cNvPr id="16" name="Text 14"/>
          <p:cNvSpPr/>
          <p:nvPr/>
        </p:nvSpPr>
        <p:spPr>
          <a:xfrm>
            <a:off x="822960" y="4572000"/>
            <a:ext cx="4846320" cy="1463040"/>
          </a:xfrm>
          <a:prstGeom prst="rect">
            <a:avLst/>
          </a:prstGeom>
          <a:noFill/>
          <a:ln/>
        </p:spPr>
        <p:txBody>
          <a:bodyPr wrap="square" rtlCol="0" anchor="ctr"/>
          <a:lstStyle/>
          <a:p>
            <a:pPr marL="0" indent="0">
              <a:lnSpc>
                <a:spcPts val="1600"/>
              </a:lnSpc>
              <a:buNone/>
            </a:pPr>
            <a:r>
              <a:rPr lang="en-US" sz="1100" dirty="0">
                <a:solidFill>
                  <a:srgbClr val="475569"/>
                </a:solidFill>
                <a:latin typeface="Segoe UI" pitchFamily="34" charset="0"/>
                <a:ea typeface="Segoe UI" pitchFamily="34" charset="-122"/>
                <a:cs typeface="Segoe UI" pitchFamily="34" charset="-120"/>
              </a:rPr>
              <a:t>Tích hợp mô hình ngôn ngữ lớn (Gemini API) thông qua Chatbox nổi tại Front-end. Người dùng có thể trò chuyện trực tiếp để hỏi đáp các lỗi kỹ thuật xe thường gặp, tra cứu chu kỳ bảo dưỡng lý thuyết của hãng, tư vấn cách tự chăm sóc xe tại nhà hiệu quả.</a:t>
            </a:r>
            <a:endParaRPr lang="en-US" sz="1100" dirty="0"/>
          </a:p>
        </p:txBody>
      </p:sp>
      <p:sp>
        <p:nvSpPr>
          <p:cNvPr id="17" name="Shape 15"/>
          <p:cNvSpPr/>
          <p:nvPr/>
        </p:nvSpPr>
        <p:spPr>
          <a:xfrm>
            <a:off x="6309360" y="4023360"/>
            <a:ext cx="5303520" cy="2194560"/>
          </a:xfrm>
          <a:prstGeom prst="roundRect">
            <a:avLst/>
          </a:prstGeom>
          <a:solidFill>
            <a:srgbClr val="FFFFFF"/>
          </a:solidFill>
          <a:ln w="19050">
            <a:solidFill>
              <a:srgbClr val="E2E8F0"/>
            </a:solidFill>
            <a:prstDash val="solid"/>
          </a:ln>
        </p:spPr>
      </p:sp>
      <p:sp>
        <p:nvSpPr>
          <p:cNvPr id="18" name="Shape 16"/>
          <p:cNvSpPr/>
          <p:nvPr/>
        </p:nvSpPr>
        <p:spPr>
          <a:xfrm>
            <a:off x="6327648" y="4114800"/>
            <a:ext cx="73152" cy="2011680"/>
          </a:xfrm>
          <a:prstGeom prst="rect">
            <a:avLst/>
          </a:prstGeom>
          <a:solidFill>
            <a:srgbClr val="7C3AED"/>
          </a:solidFill>
          <a:ln w="12700">
            <a:solidFill>
              <a:srgbClr val="7C3AED"/>
            </a:solidFill>
            <a:prstDash val="solid"/>
          </a:ln>
        </p:spPr>
      </p:sp>
      <p:sp>
        <p:nvSpPr>
          <p:cNvPr id="19" name="Text 17"/>
          <p:cNvSpPr/>
          <p:nvPr/>
        </p:nvSpPr>
        <p:spPr>
          <a:xfrm>
            <a:off x="6583680" y="4206240"/>
            <a:ext cx="4846320" cy="365760"/>
          </a:xfrm>
          <a:prstGeom prst="rect">
            <a:avLst/>
          </a:prstGeom>
          <a:noFill/>
          <a:ln/>
        </p:spPr>
        <p:txBody>
          <a:bodyPr wrap="square" rtlCol="0" anchor="ctr"/>
          <a:lstStyle/>
          <a:p>
            <a:pPr marL="0" indent="0">
              <a:buNone/>
            </a:pPr>
            <a:r>
              <a:rPr lang="en-US" sz="1450" b="1" dirty="0">
                <a:solidFill>
                  <a:srgbClr val="0F172A"/>
                </a:solidFill>
                <a:latin typeface="Segoe UI" pitchFamily="34" charset="0"/>
                <a:ea typeface="Segoe UI" pitchFamily="34" charset="-122"/>
                <a:cs typeface="Segoe UI" pitchFamily="34" charset="-120"/>
              </a:rPr>
              <a:t>4. Thống kê Dashboard &amp; Kết xuất dữ liệu</a:t>
            </a:r>
            <a:endParaRPr lang="en-US" sz="1450" dirty="0"/>
          </a:p>
        </p:txBody>
      </p:sp>
      <p:sp>
        <p:nvSpPr>
          <p:cNvPr id="20" name="Text 18"/>
          <p:cNvSpPr/>
          <p:nvPr/>
        </p:nvSpPr>
        <p:spPr>
          <a:xfrm>
            <a:off x="6583680" y="4572000"/>
            <a:ext cx="4846320" cy="1463040"/>
          </a:xfrm>
          <a:prstGeom prst="rect">
            <a:avLst/>
          </a:prstGeom>
          <a:noFill/>
          <a:ln/>
        </p:spPr>
        <p:txBody>
          <a:bodyPr wrap="square" rtlCol="0" anchor="ctr"/>
          <a:lstStyle/>
          <a:p>
            <a:pPr marL="0" indent="0">
              <a:lnSpc>
                <a:spcPts val="1600"/>
              </a:lnSpc>
              <a:buNone/>
            </a:pPr>
            <a:r>
              <a:rPr lang="en-US" sz="1100" dirty="0">
                <a:solidFill>
                  <a:srgbClr val="475569"/>
                </a:solidFill>
                <a:latin typeface="Segoe UI" pitchFamily="34" charset="0"/>
                <a:ea typeface="Segoe UI" pitchFamily="34" charset="-122"/>
                <a:cs typeface="Segoe UI" pitchFamily="34" charset="-120"/>
              </a:rPr>
              <a:t>Giao diện Dashboard riêng biệt theo vai trò: Chủ xe xem biểu đồ phân tích chi phí vận hành; Gara xem biểu đồ cột số lượng xe bảo dưỡng và biểu đồ đường theo dõi doanh thu. Hỗ trợ kết xuất hóa đơn sửa chữa chi tiết ra file PDF (Gara) và xuất Excel tổng hợp chi tiêu (Chủ xe).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48640" y="411480"/>
            <a:ext cx="73152" cy="685800"/>
          </a:xfrm>
          <a:prstGeom prst="rect">
            <a:avLst/>
          </a:prstGeom>
          <a:solidFill>
            <a:srgbClr val="F59E0B"/>
          </a:solidFill>
          <a:ln w="12700">
            <a:solidFill>
              <a:srgbClr val="F59E0B"/>
            </a:solidFill>
            <a:prstDash val="solid"/>
          </a:ln>
        </p:spPr>
      </p:sp>
      <p:sp>
        <p:nvSpPr>
          <p:cNvPr id="3" name="Text 1"/>
          <p:cNvSpPr/>
          <p:nvPr/>
        </p:nvSpPr>
        <p:spPr>
          <a:xfrm>
            <a:off x="731520" y="365760"/>
            <a:ext cx="10789920" cy="411480"/>
          </a:xfrm>
          <a:prstGeom prst="rect">
            <a:avLst/>
          </a:prstGeom>
          <a:noFill/>
          <a:ln/>
        </p:spPr>
        <p:txBody>
          <a:bodyPr wrap="square" rtlCol="0" anchor="ctr"/>
          <a:lstStyle/>
          <a:p>
            <a:pPr marL="0" indent="0">
              <a:buNone/>
            </a:pPr>
            <a:r>
              <a:rPr lang="en-US" sz="2000" b="1" dirty="0">
                <a:solidFill>
                  <a:srgbClr val="F59E0B"/>
                </a:solidFill>
                <a:latin typeface="Segoe UI" pitchFamily="34" charset="0"/>
                <a:ea typeface="Segoe UI" pitchFamily="34" charset="-122"/>
                <a:cs typeface="Segoe UI" pitchFamily="34" charset="-120"/>
              </a:rPr>
              <a:t>05. BIỂU ĐỒ ĐÓNG GÓP &amp; KẾT LUẬN</a:t>
            </a:r>
            <a:endParaRPr lang="en-US" sz="2000" dirty="0"/>
          </a:p>
        </p:txBody>
      </p:sp>
      <p:sp>
        <p:nvSpPr>
          <p:cNvPr id="4" name="Text 2"/>
          <p:cNvSpPr/>
          <p:nvPr/>
        </p:nvSpPr>
        <p:spPr>
          <a:xfrm>
            <a:off x="731520" y="777240"/>
            <a:ext cx="10789920" cy="320040"/>
          </a:xfrm>
          <a:prstGeom prst="rect">
            <a:avLst/>
          </a:prstGeom>
          <a:noFill/>
          <a:ln/>
        </p:spPr>
        <p:txBody>
          <a:bodyPr wrap="square" rtlCol="0" anchor="ctr"/>
          <a:lstStyle/>
          <a:p>
            <a:pPr marL="0" indent="0">
              <a:buNone/>
            </a:pPr>
            <a:r>
              <a:rPr lang="en-US" sz="1300" dirty="0">
                <a:solidFill>
                  <a:srgbClr val="E2E8F0"/>
                </a:solidFill>
                <a:latin typeface="Segoe UI" pitchFamily="34" charset="0"/>
                <a:ea typeface="Segoe UI" pitchFamily="34" charset="-122"/>
                <a:cs typeface="Segoe UI" pitchFamily="34" charset="-120"/>
              </a:rPr>
              <a:t>Đánh giá đóng góp thành viên, kết luận đề tài và định hướng phát triển tương lai</a:t>
            </a:r>
            <a:endParaRPr lang="en-US" sz="1300" dirty="0"/>
          </a:p>
        </p:txBody>
      </p:sp>
      <p:sp>
        <p:nvSpPr>
          <p:cNvPr id="5" name="Shape 3"/>
          <p:cNvSpPr/>
          <p:nvPr/>
        </p:nvSpPr>
        <p:spPr>
          <a:xfrm>
            <a:off x="548640" y="1463040"/>
            <a:ext cx="5303520" cy="4754880"/>
          </a:xfrm>
          <a:prstGeom prst="roundRect">
            <a:avLst/>
          </a:prstGeom>
          <a:solidFill>
            <a:srgbClr val="1E293B"/>
          </a:solidFill>
          <a:ln w="19050">
            <a:solidFill>
              <a:srgbClr val="333333"/>
            </a:solidFill>
            <a:prstDash val="solid"/>
          </a:ln>
        </p:spPr>
      </p:sp>
      <p:sp>
        <p:nvSpPr>
          <p:cNvPr id="6" name="Text 4"/>
          <p:cNvSpPr/>
          <p:nvPr/>
        </p:nvSpPr>
        <p:spPr>
          <a:xfrm>
            <a:off x="822960" y="1737360"/>
            <a:ext cx="4754880" cy="365760"/>
          </a:xfrm>
          <a:prstGeom prst="rect">
            <a:avLst/>
          </a:prstGeom>
          <a:noFill/>
          <a:ln/>
        </p:spPr>
        <p:txBody>
          <a:bodyPr wrap="square" rtlCol="0" anchor="ctr"/>
          <a:lstStyle/>
          <a:p>
            <a:pPr marL="0" indent="0">
              <a:buNone/>
            </a:pPr>
            <a:r>
              <a:rPr lang="en-US" sz="1500" b="1" dirty="0">
                <a:solidFill>
                  <a:srgbClr val="F59E0B"/>
                </a:solidFill>
                <a:latin typeface="Segoe UI" pitchFamily="34" charset="0"/>
                <a:ea typeface="Segoe UI" pitchFamily="34" charset="-122"/>
                <a:cs typeface="Segoe UI" pitchFamily="34" charset="-120"/>
              </a:rPr>
              <a:t>TỶ LỆ ĐÓNG GÓP CÔNG VIỆC NHÓM</a:t>
            </a:r>
            <a:endParaRPr lang="en-US" sz="1500" dirty="0"/>
          </a:p>
        </p:txBody>
      </p:sp>
      <p:graphicFrame>
        <p:nvGraphicFramePr>
          <p:cNvPr id="7" name="Chart 0"/>
          <p:cNvGraphicFramePr/>
          <p:nvPr/>
        </p:nvGraphicFramePr>
        <p:xfrm>
          <a:off x="731520" y="2194560"/>
          <a:ext cx="493776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6035040" y="1188720"/>
            <a:ext cx="5303520" cy="4754880"/>
          </a:xfrm>
          <a:prstGeom prst="roundRect">
            <a:avLst/>
          </a:prstGeom>
          <a:solidFill>
            <a:srgbClr val="1E293B"/>
          </a:solidFill>
          <a:ln w="19050">
            <a:solidFill>
              <a:srgbClr val="333333"/>
            </a:solidFill>
            <a:prstDash val="solid"/>
          </a:ln>
        </p:spPr>
      </p:sp>
      <p:sp>
        <p:nvSpPr>
          <p:cNvPr id="9" name="Text 6"/>
          <p:cNvSpPr/>
          <p:nvPr/>
        </p:nvSpPr>
        <p:spPr>
          <a:xfrm>
            <a:off x="6583680" y="1737360"/>
            <a:ext cx="4754880" cy="365760"/>
          </a:xfrm>
          <a:prstGeom prst="rect">
            <a:avLst/>
          </a:prstGeom>
          <a:noFill/>
          <a:ln/>
        </p:spPr>
        <p:txBody>
          <a:bodyPr wrap="square" rtlCol="0" anchor="ctr"/>
          <a:lstStyle/>
          <a:p>
            <a:pPr marL="0" indent="0">
              <a:buNone/>
            </a:pPr>
            <a:r>
              <a:rPr lang="en-US" sz="1500" b="1" dirty="0">
                <a:solidFill>
                  <a:srgbClr val="F59E0B"/>
                </a:solidFill>
                <a:latin typeface="Segoe UI" pitchFamily="34" charset="0"/>
                <a:ea typeface="Segoe UI" pitchFamily="34" charset="-122"/>
                <a:cs typeface="Segoe UI" pitchFamily="34" charset="-120"/>
              </a:rPr>
              <a:t>KẾT LUẬN &amp; HƯỚNG PHÁT TRIỂN</a:t>
            </a:r>
            <a:endParaRPr lang="en-US" sz="1500" dirty="0"/>
          </a:p>
        </p:txBody>
      </p:sp>
      <p:sp>
        <p:nvSpPr>
          <p:cNvPr id="10" name="Text 7"/>
          <p:cNvSpPr/>
          <p:nvPr/>
        </p:nvSpPr>
        <p:spPr>
          <a:xfrm>
            <a:off x="6583680" y="2194560"/>
            <a:ext cx="4754880" cy="3840480"/>
          </a:xfrm>
          <a:prstGeom prst="rect">
            <a:avLst/>
          </a:prstGeom>
          <a:noFill/>
          <a:ln/>
        </p:spPr>
        <p:txBody>
          <a:bodyPr wrap="square" rtlCol="0" anchor="ctr"/>
          <a:lstStyle/>
          <a:p>
            <a:pPr marL="0" indent="0">
              <a:lnSpc>
                <a:spcPts val="1900"/>
              </a:lnSpc>
              <a:buNone/>
            </a:pPr>
            <a:r>
              <a:rPr lang="en-US" sz="1250" b="1" dirty="0">
                <a:solidFill>
                  <a:srgbClr val="FFFFFF"/>
                </a:solidFill>
                <a:latin typeface="Segoe UI" pitchFamily="34" charset="0"/>
                <a:ea typeface="Segoe UI" pitchFamily="34" charset="-122"/>
                <a:cs typeface="Segoe UI" pitchFamily="34" charset="-120"/>
              </a:rPr>
              <a:t>• Hoàn thành hệ thống: </a:t>
            </a:r>
            <a:r>
              <a:rPr lang="en-US" sz="1250" dirty="0">
                <a:solidFill>
                  <a:srgbClr val="E2E8F0"/>
                </a:solidFill>
                <a:latin typeface="Segoe UI" pitchFamily="34" charset="0"/>
                <a:ea typeface="Segoe UI" pitchFamily="34" charset="-122"/>
                <a:cs typeface="Segoe UI" pitchFamily="34" charset="-120"/>
              </a:rPr>
              <a:t>Xây dựng thành công ứng dụng Web Responsive (mobile-first) hỗ trợ quản lý tập trung lịch đăng kiểm, bảo dưỡng và bảo hiểm phương tiện đúng theo mô tả đặc tả kỹ thuật.
</a:t>
            </a:r>
            <a:r>
              <a:rPr lang="en-US" sz="1250" b="1" dirty="0">
                <a:solidFill>
                  <a:srgbClr val="FFFFFF"/>
                </a:solidFill>
                <a:latin typeface="Segoe UI" pitchFamily="34" charset="0"/>
                <a:ea typeface="Segoe UI" pitchFamily="34" charset="-122"/>
                <a:cs typeface="Segoe UI" pitchFamily="34" charset="-120"/>
              </a:rPr>
              <a:t>• Tích hợp Công nghệ &amp; Kiến trúc: </a:t>
            </a:r>
            <a:r>
              <a:rPr lang="en-US" sz="1250" dirty="0">
                <a:solidFill>
                  <a:srgbClr val="E2E8F0"/>
                </a:solidFill>
                <a:latin typeface="Segoe UI" pitchFamily="34" charset="0"/>
                <a:ea typeface="Segoe UI" pitchFamily="34" charset="-122"/>
                <a:cs typeface="Segoe UI" pitchFamily="34" charset="-120"/>
              </a:rPr>
              <a:t>Hệ thống triển khai trên nền React + Tailwind CSS + Shadcn/ui (Frontend) và Nest.js + SQL Server 2014 (Backend) theo mô hình Clean Architecture bảo mật, ổn định.
</a:t>
            </a:r>
            <a:r>
              <a:rPr lang="en-US" sz="1250" b="1" dirty="0">
                <a:solidFill>
                  <a:srgbClr val="FFFFFF"/>
                </a:solidFill>
                <a:latin typeface="Segoe UI" pitchFamily="34" charset="0"/>
                <a:ea typeface="Segoe UI" pitchFamily="34" charset="-122"/>
                <a:cs typeface="Segoe UI" pitchFamily="34" charset="-120"/>
              </a:rPr>
              <a:t>• Tối ưu hóa quy trình Vibe Coding: </a:t>
            </a:r>
            <a:r>
              <a:rPr lang="en-US" sz="1250" dirty="0">
                <a:solidFill>
                  <a:srgbClr val="E2E8F0"/>
                </a:solidFill>
                <a:latin typeface="Segoe UI" pitchFamily="34" charset="0"/>
                <a:ea typeface="Segoe UI" pitchFamily="34" charset="-122"/>
                <a:cs typeface="Segoe UI" pitchFamily="34" charset="-120"/>
              </a:rPr>
              <a:t>Cộng tác hiệu quả với AI Agent (Vibe Coding) giúp sinh mã nguồn nhanh chóng từ tài liệu module.md và gỡ lỗi hệ thống tức thì.
</a:t>
            </a:r>
            <a:r>
              <a:rPr lang="en-US" sz="1250" b="1" dirty="0">
                <a:solidFill>
                  <a:srgbClr val="FFFFFF"/>
                </a:solidFill>
                <a:latin typeface="Segoe UI" pitchFamily="34" charset="0"/>
                <a:ea typeface="Segoe UI" pitchFamily="34" charset="-122"/>
                <a:cs typeface="Segoe UI" pitchFamily="34" charset="-120"/>
              </a:rPr>
              <a:t>• Định hướng phát triển: </a:t>
            </a:r>
            <a:r>
              <a:rPr lang="en-US" sz="1250" dirty="0">
                <a:solidFill>
                  <a:srgbClr val="E2E8F0"/>
                </a:solidFill>
                <a:latin typeface="Segoe UI" pitchFamily="34" charset="0"/>
                <a:ea typeface="Segoe UI" pitchFamily="34" charset="-122"/>
                <a:cs typeface="Segoe UI" pitchFamily="34" charset="-120"/>
              </a:rPr>
              <a:t>Tiếp tục tối ưu hóa các chỉ mục cơ sở dữ liệu nâng cao, mở rộng kết nối với hệ thống gara liên kết đối tác và phát triển thêm các tiện ích thông minh cho chủ xe.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1512</Words>
  <Application>Microsoft Office PowerPoint</Application>
  <PresentationFormat>On-screen Show (16:9)</PresentationFormat>
  <Paragraphs>72</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ACOH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Đồ án Tốt nghiệp AutoCare Office Helper (ACOH)</dc:title>
  <dc:subject>Tài liệu thuyết trình đồ án tốt nghiệp</dc:subject>
  <dc:creator>Nhóm thực hiện Đồ án ACOH</dc:creator>
  <cp:lastModifiedBy>Nhu Huynh</cp:lastModifiedBy>
  <cp:revision>2</cp:revision>
  <dcterms:created xsi:type="dcterms:W3CDTF">2026-07-24T08:34:28Z</dcterms:created>
  <dcterms:modified xsi:type="dcterms:W3CDTF">2026-07-24T08:43:25Z</dcterms:modified>
</cp:coreProperties>
</file>